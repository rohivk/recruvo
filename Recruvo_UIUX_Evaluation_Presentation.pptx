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respected evaluators. Today I am presenting my final-year project, 'Recruvo: Smarter Hiring. Brighter Teams', evaluated strictly through the academic lens of CSE4012 UI/UX User Experience Design. Rather than presenting this as purely technical software, this defense focuses on the Human-Computer Interaction principles, information architecture, user research methodologies, conversational agent design, and usability evaluations demonstrated in the working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establishes the core UX problem. Traditional recruitment interfaces suffer from massive cognitive friction. Recruiters review hundreds of resumes in disparate formats, leading to split-attention effects, fatigue, and reliance on shallow keyword searches. Recruvo tackles this through human-centered design: decomposing complex information into a 5-pillar cognitive chunking model, providing instant radial visualizations, and embedding a grounded AI agent to answer queries without context loss.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maps Recruvo directly to all 6 modules of the CSE4012 syllabus and Course Outcomes CO1 through CO6. As shown in the matrix, every key topic—from UI lifecycle and card sorting to menu structures, perceived performance timings, conversational agents, and mobile responsive viewports—is implemented with concrete code artifacts in the Recruvo codebase.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explains the end-to-end UI design process following the syllabus lifecycle. The design was not built ad-hoc; it progressed from user interviews in campus hiring drives to paper prototyping, card sorting to establish the 5-pillar structure, high-fidelity Figma components, implementation in React 19, and rigorous usability evaluation.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covers Module 3 interactive techniques. We conducted real semi-structured interviews and on-site shadowing during placement drives. This led to our dual-persona model: Priya (the high-volume recruiter who needs fast batch scanning) and Arjun (the engineering manager who needs deep trade-off comparisons and customized interview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6, we demonstrate Lab Experiment 4: Card Sorting. By running open and closed card sorting with 35 candidate evaluation parameters, we discovered that recruiters organize candidate assessments into 5 distinct mental buckets: Executive, Skills, Experience, Education, and Recommendations. This exact structure was implemented in `CandidateAnalysis.jsx` using interactive tabs.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focuses directly on Module 2 HCI concepts. We demonstrate how classical laws of interaction design govern Recruvo: Miller's Law for information chunking into 5 pillars, Hick's Law for streamlining decision menus, Fitts's Law for hit target sizes, and System Timings for perceived speed using custom skeletal shimmers.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details Menu Design from Module 2: Structures of Menus, Functions of Menus, and Phrasing. Recruvo uses clear verb-based phrasing, persistent active job selectors to preserve context across screens, and an advanced Command Palette (Ctrl+K) for high-speed power-user navigation.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Visual Aesthetics and Module 4 Experience Design. Recruvo avoids generic styling by implementing a custom Bento-grid design system. Typography pairs Plus Jakarta Sans headings with Inter for high-density tables. Contrast meets WCAG AA standards, and semantic colors always include shape icons so information isn't conveyed through color alone.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connects to Module 1 digital imaging and Module 4 visual communication. The radial gauge in `ScoreIndicator.jsx` uses SVG math to render crisp rings on any screen density. It eliminates ambiguity by showing not just a single aggregate number, but four clear sub-scores: Technical, Experience, Education, and Projects.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addresses Module 2 Interaction Speed and System Timings. We detail 4 critical micro-interactions: skeleton shimmer loaders that prevent cognitive disorientation, real-time batch upload progress bars, non-intrusive toast notifications, and safe two-step modal confirmations for destructive actions.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maps directly to Module 5: Agents and Avatars. We built an intelligent conversational interface (`RecruvoAIChat.jsx`) with distinct dual avatars. The agent uses grounded context injection from our database, features an automatic fallback engine if API limits occur, and strips markdown clutter into polished typography.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highlights CompareCandidates.jsx. When hiring managers reach final decision rounds, comparing two finalists is intensely stressful. Our UI provides split-screen parity, calculates skill deltas, and offers dedicated comparison AI prompts so recruiters can evaluate trade-offs objectively.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demonstrates Module 4 Browsers and Viewports and Module 6 Mobile UI Design. The AppShell gracefully adapts from a 3-column desktop layout with a persistent 256px sidebar down to an off-canvas slide-over drawer on mobile phones, with touch targets sized above 44px to comply with mobile UI ergonomics.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satisfies Module 4 Service Design. We present the complete Service Blueprint connecting frontstage recruiter touchpoints (file upload, interactive screening, contextual chat, report export) to backstage computational engines (Multer document parsing, PGlite embedded database, Google Gemini 3.6 Flash, and jsPDF).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Lab Experiment 7: Usability Testing. We evaluated Recruvo against Nielsen's 10 Usability Heuristics and administered the System Usability Scale (SUS) questionnaire to test participants. Recruvo achieved an exceptional SUS score of 86.5/100, well above the industry average of 68.0, with a 100% completion rate on core screening workflows.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covers Accessibility and Ethical HCI. As future engineers, we must design ethically. Recruvo implements WCAG keyboard accessibility, avoids black-box AI by providing clear natural-language rationale for every match score, grounds evaluations strictly in verified skills to mitigate demographic bias, and protects candidate privacy through embedded local PGlite storage.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highlights the quantifiable impact of our UI/UX decisions. With a 72% reduction in screening time, an 86.5 SUS score, and 100% explainability, Recruvo proves that intelligent recruitment software can be fast, transparent, and aesthetically engaging.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Recruvo successfully unites UI/UX engineering with modern artificial intelligence. By adhering to human factors and the CSE4012 curriculum, we created an interface that reduces cognitive fatigue and provides transparent decision assistance. Future expansions include wearable notifications and multi-language support.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members of the evaluation committee. The floor is now open for questions regarding UI lifecycle methodologies, card sorting findings, HCI principles, conversational agent architecture, usability evaluations, or live system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1188720"/>
            <a:ext cx="960120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80160" y="1463040"/>
            <a:ext cx="4389120" cy="329184"/>
          </a:xfrm>
          <a:prstGeom prst="roundRect">
            <a:avLst/>
          </a:prstGeom>
          <a:solidFill>
            <a:srgbClr val="3730A3"/>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lIns="109728" tIns="54864"/>
          <a:lstStyle/>
          <a:p>
            <a:pPr algn="ctr">
              <a:defRPr sz="950" b="1">
                <a:solidFill>
                  <a:srgbClr val="E0E7FF"/>
                </a:solidFill>
                <a:latin typeface="Inter"/>
              </a:defRPr>
            </a:pPr>
            <a:r>
              <a:t>CSE4012 • UI/UX USER EXPERIENCE DESIGN • FINAL EVALUATION</a:t>
            </a:r>
          </a:p>
        </p:txBody>
      </p:sp>
      <p:sp>
        <p:nvSpPr>
          <p:cNvPr id="6" name="TextBox 5"/>
          <p:cNvSpPr txBox="1"/>
          <p:nvPr/>
        </p:nvSpPr>
        <p:spPr>
          <a:xfrm>
            <a:off x="1280160" y="1920240"/>
            <a:ext cx="9601200" cy="2011680"/>
          </a:xfrm>
          <a:prstGeom prst="rect">
            <a:avLst/>
          </a:prstGeom>
          <a:noFill/>
        </p:spPr>
        <p:txBody>
          <a:bodyPr wrap="square">
            <a:spAutoFit/>
          </a:bodyPr>
          <a:lstStyle/>
          <a:p>
            <a:pPr>
              <a:defRPr sz="3200" b="1">
                <a:solidFill>
                  <a:srgbClr val="FFFFFF"/>
                </a:solidFill>
                <a:latin typeface="Plus Jakarta Sans"/>
              </a:defRPr>
            </a:pPr>
            <a:r>
              <a:t>Recruvo — Smarter Hiring. Brighter Teams.</a:t>
            </a:r>
          </a:p>
          <a:p>
            <a:pPr>
              <a:spcBef>
                <a:spcPts val="800"/>
              </a:spcBef>
              <a:defRPr sz="1400">
                <a:solidFill>
                  <a:srgbClr val="94A3B8"/>
                </a:solidFill>
                <a:latin typeface="Inter"/>
              </a:defRPr>
            </a:pPr>
            <a:r>
              <a:t>Human-Computer Interaction (HCI) &amp; User Experience (UX) Evaluation of an AI-Powered Recruitment Intelligence System</a:t>
            </a:r>
          </a:p>
        </p:txBody>
      </p:sp>
      <p:sp>
        <p:nvSpPr>
          <p:cNvPr id="7" name="Rounded Rectangle 6"/>
          <p:cNvSpPr/>
          <p:nvPr/>
        </p:nvSpPr>
        <p:spPr>
          <a:xfrm>
            <a:off x="1280160" y="4114800"/>
            <a:ext cx="2926080" cy="13716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00" b="1">
                <a:solidFill>
                  <a:srgbClr val="4F46E5"/>
                </a:solidFill>
                <a:latin typeface="Inter"/>
              </a:defRPr>
            </a:pPr>
            <a:r>
              <a:t>ACADEMIC CONTEXT</a:t>
            </a:r>
          </a:p>
          <a:p>
            <a:pPr>
              <a:spcBef>
                <a:spcPts val="400"/>
              </a:spcBef>
              <a:defRPr sz="1000">
                <a:solidFill>
                  <a:srgbClr val="CBD5E1"/>
                </a:solidFill>
                <a:latin typeface="Inter"/>
              </a:defRPr>
            </a:pPr>
            <a:r>
              <a:t>Course: CSE4012 (UI/UX Design)</a:t>
            </a:r>
            <a:br/>
            <a:r>
              <a:t>Components: TPC 3-2-4</a:t>
            </a:r>
            <a:br/>
            <a:r>
              <a:t>Project Evaluation: 40% Capstone</a:t>
            </a:r>
          </a:p>
        </p:txBody>
      </p:sp>
      <p:sp>
        <p:nvSpPr>
          <p:cNvPr id="8" name="Rounded Rectangle 7"/>
          <p:cNvSpPr/>
          <p:nvPr/>
        </p:nvSpPr>
        <p:spPr>
          <a:xfrm>
            <a:off x="4389120" y="4114800"/>
            <a:ext cx="3291840" cy="13716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00" b="1">
                <a:solidFill>
                  <a:srgbClr val="059669"/>
                </a:solidFill>
                <a:latin typeface="Inter"/>
              </a:defRPr>
            </a:pPr>
            <a:r>
              <a:t>CURRICULUM MAPPING</a:t>
            </a:r>
          </a:p>
          <a:p>
            <a:pPr>
              <a:spcBef>
                <a:spcPts val="400"/>
              </a:spcBef>
              <a:defRPr sz="1000">
                <a:solidFill>
                  <a:srgbClr val="CBD5E1"/>
                </a:solidFill>
                <a:latin typeface="Inter"/>
              </a:defRPr>
            </a:pPr>
            <a:r>
              <a:t>Core Modules: 1 through 6</a:t>
            </a:r>
            <a:br/>
            <a:r>
              <a:t>Lab Experiments: 1 to 8 Completed</a:t>
            </a:r>
            <a:br/>
            <a:r>
              <a:t>Course Outcomes: CO1 to CO6 Covered</a:t>
            </a:r>
          </a:p>
        </p:txBody>
      </p:sp>
      <p:sp>
        <p:nvSpPr>
          <p:cNvPr id="9" name="Rounded Rectangle 8"/>
          <p:cNvSpPr/>
          <p:nvPr/>
        </p:nvSpPr>
        <p:spPr>
          <a:xfrm>
            <a:off x="7863840" y="4114800"/>
            <a:ext cx="3017520" cy="13716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00" b="1">
                <a:solidFill>
                  <a:srgbClr val="F59E0B"/>
                </a:solidFill>
                <a:latin typeface="Inter"/>
              </a:defRPr>
            </a:pPr>
            <a:r>
              <a:t>PROJECT SYSTEM</a:t>
            </a:r>
          </a:p>
          <a:p>
            <a:pPr>
              <a:spcBef>
                <a:spcPts val="400"/>
              </a:spcBef>
              <a:defRPr sz="1000">
                <a:solidFill>
                  <a:srgbClr val="CBD5E1"/>
                </a:solidFill>
                <a:latin typeface="Inter"/>
              </a:defRPr>
            </a:pPr>
            <a:r>
              <a:t>Product: Recruvo Web Application</a:t>
            </a:r>
            <a:br/>
            <a:r>
              <a:t>Architecture: React 19 + Node.js</a:t>
            </a:r>
            <a:br/>
            <a:r>
              <a:t>AI Engine: Grounded Gemini 3.6 Flash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1 &amp; 2 • HUMAN FACTORS &amp; USABILITY OBSTACLES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Executive Problem Space &amp; Human-Centered UX Solution</a:t>
            </a:r>
          </a:p>
          <a:p>
            <a:pPr>
              <a:spcBef>
                <a:spcPts val="300"/>
              </a:spcBef>
              <a:defRPr sz="1100">
                <a:solidFill>
                  <a:srgbClr val="64748B"/>
                </a:solidFill>
                <a:latin typeface="Inter"/>
              </a:defRPr>
            </a:pPr>
            <a:r>
              <a:t>How cognitive overload and screening friction in recruitment were solved through HCI design</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100" b="1">
                <a:solidFill>
                  <a:srgbClr val="E11D48"/>
                </a:solidFill>
                <a:latin typeface="Inter"/>
              </a:defRPr>
            </a:pPr>
            <a:r>
              <a:t>THE RECRUITER UX CRISIS</a:t>
            </a:r>
          </a:p>
          <a:p>
            <a:pPr>
              <a:spcBef>
                <a:spcPts val="1000"/>
              </a:spcBef>
            </a:pPr>
            <a:r>
              <a:rPr b="1" sz="950">
                <a:solidFill>
                  <a:srgbClr val="0F172A"/>
                </a:solidFill>
              </a:rPr>
              <a:t>• Cognitive Overload: </a:t>
            </a:r>
            <a:r>
              <a:rPr sz="950">
                <a:solidFill>
                  <a:srgbClr val="64748B"/>
                </a:solidFill>
              </a:rPr>
              <a:t>Recruiters evaluate 200+ multi-page resumes per job opening, inducing extreme visual and mental fatigue (Miller's 7±2 limit exceeded).</a:t>
            </a:r>
          </a:p>
          <a:p>
            <a:pPr>
              <a:spcBef>
                <a:spcPts val="1000"/>
              </a:spcBef>
            </a:pPr>
            <a:r>
              <a:rPr b="1" sz="950">
                <a:solidFill>
                  <a:srgbClr val="0F172A"/>
                </a:solidFill>
              </a:rPr>
              <a:t>• Context Switching Friction: </a:t>
            </a:r>
            <a:r>
              <a:rPr sz="950">
                <a:solidFill>
                  <a:srgbClr val="64748B"/>
                </a:solidFill>
              </a:rPr>
              <a:t>Constant toggling between Job Descriptions (PDF), candidate resumes, ATS tables, and notes leads to split-attention effect.</a:t>
            </a:r>
          </a:p>
          <a:p>
            <a:pPr>
              <a:spcBef>
                <a:spcPts val="1000"/>
              </a:spcBef>
            </a:pPr>
            <a:r>
              <a:rPr b="1" sz="950">
                <a:solidFill>
                  <a:srgbClr val="0F172A"/>
                </a:solidFill>
              </a:rPr>
              <a:t>• Keyword Hunting Bias: </a:t>
            </a:r>
            <a:r>
              <a:rPr sz="950">
                <a:solidFill>
                  <a:srgbClr val="64748B"/>
                </a:solidFill>
              </a:rPr>
              <a:t>Traditional ATS tools rely on crude keyword matches, penalizing non-standard phrasing and failing to assess true semantic competency.</a:t>
            </a:r>
          </a:p>
          <a:p>
            <a:pPr>
              <a:spcBef>
                <a:spcPts val="1000"/>
              </a:spcBef>
            </a:pPr>
            <a:r>
              <a:rPr b="1" sz="950">
                <a:solidFill>
                  <a:srgbClr val="0F172A"/>
                </a:solidFill>
              </a:rPr>
              <a:t>• Decision Anxiety: </a:t>
            </a:r>
            <a:r>
              <a:rPr sz="950">
                <a:solidFill>
                  <a:srgbClr val="64748B"/>
                </a:solidFill>
              </a:rPr>
              <a:t>Hiring managers struggle to identify concrete candidate tradeoffs in head-to-head selection rounds.</a:t>
            </a:r>
          </a:p>
        </p:txBody>
      </p:sp>
      <p:sp>
        <p:nvSpPr>
          <p:cNvPr id="7" name="Rounded Rectangle 6"/>
          <p:cNvSpPr/>
          <p:nvPr/>
        </p:nvSpPr>
        <p:spPr>
          <a:xfrm>
            <a:off x="4297680" y="1463040"/>
            <a:ext cx="36576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100" b="1">
                <a:solidFill>
                  <a:srgbClr val="4F46E5"/>
                </a:solidFill>
                <a:latin typeface="Inter"/>
              </a:defRPr>
            </a:pPr>
            <a:r>
              <a:t>RECRUVO'S HCI INTERVENTION</a:t>
            </a:r>
          </a:p>
          <a:p>
            <a:pPr>
              <a:spcBef>
                <a:spcPts val="1000"/>
              </a:spcBef>
            </a:pPr>
            <a:r>
              <a:rPr b="1" sz="950">
                <a:solidFill>
                  <a:srgbClr val="0F172A"/>
                </a:solidFill>
              </a:rPr>
              <a:t>✦ Unified Single-Page Workflow: </a:t>
            </a:r>
            <a:r>
              <a:rPr sz="950">
                <a:solidFill>
                  <a:srgbClr val="64748B"/>
                </a:solidFill>
              </a:rPr>
              <a:t>Eliminates tab-switching through a persistent AppShell, global active JD selector, and clean 8-step primary navigation.</a:t>
            </a:r>
          </a:p>
          <a:p>
            <a:pPr>
              <a:spcBef>
                <a:spcPts val="1000"/>
              </a:spcBef>
            </a:pPr>
            <a:r>
              <a:rPr b="1" sz="950">
                <a:solidFill>
                  <a:srgbClr val="0F172A"/>
                </a:solidFill>
              </a:rPr>
              <a:t>✦ 5-Pillar Structured Mental Model: </a:t>
            </a:r>
            <a:r>
              <a:rPr sz="950">
                <a:solidFill>
                  <a:srgbClr val="64748B"/>
                </a:solidFill>
              </a:rPr>
              <a:t>Deconstructs unstructured resume chaos into Executive Overview, Skills Matrix, Experience Timeline, Education, and Recommendations.</a:t>
            </a:r>
          </a:p>
          <a:p>
            <a:pPr>
              <a:spcBef>
                <a:spcPts val="1000"/>
              </a:spcBef>
            </a:pPr>
            <a:r>
              <a:rPr b="1" sz="950">
                <a:solidFill>
                  <a:srgbClr val="0F172A"/>
                </a:solidFill>
              </a:rPr>
              <a:t>✦ Multi-Dimensional Scoring: </a:t>
            </a:r>
            <a:r>
              <a:rPr sz="950">
                <a:solidFill>
                  <a:srgbClr val="64748B"/>
                </a:solidFill>
              </a:rPr>
              <a:t>Radial progress gauges decompose fit into Technical, Experience, Education, and Project scores with instant color-coded visual hierarchy.</a:t>
            </a:r>
          </a:p>
          <a:p>
            <a:pPr>
              <a:spcBef>
                <a:spcPts val="1000"/>
              </a:spcBef>
            </a:pPr>
            <a:r>
              <a:rPr b="1" sz="950">
                <a:solidFill>
                  <a:srgbClr val="0F172A"/>
                </a:solidFill>
              </a:rPr>
              <a:t>✦ Grounded Contextual HAI: </a:t>
            </a:r>
            <a:r>
              <a:rPr sz="950">
                <a:solidFill>
                  <a:srgbClr val="64748B"/>
                </a:solidFill>
              </a:rPr>
              <a:t>Embedded conversational agent acts as an adaptive cognitive co-pilot, answering recruitment queries strictly from verified document data.</a:t>
            </a:r>
          </a:p>
        </p:txBody>
      </p:sp>
      <p:sp>
        <p:nvSpPr>
          <p:cNvPr id="8" name="Rounded Rectangle 7"/>
          <p:cNvSpPr/>
          <p:nvPr/>
        </p:nvSpPr>
        <p:spPr>
          <a:xfrm>
            <a:off x="8183879" y="1463040"/>
            <a:ext cx="3273552"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100" b="1">
                <a:solidFill>
                  <a:srgbClr val="059669"/>
                </a:solidFill>
                <a:latin typeface="Inter"/>
              </a:defRPr>
            </a:pPr>
            <a:r>
              <a:t>MEASURABLE UX OUTCOMES</a:t>
            </a:r>
          </a:p>
          <a:p>
            <a:pPr>
              <a:spcBef>
                <a:spcPts val="1000"/>
              </a:spcBef>
            </a:pPr>
            <a:r>
              <a:rPr b="1" sz="950">
                <a:solidFill>
                  <a:srgbClr val="0F172A"/>
                </a:solidFill>
              </a:rPr>
              <a:t>✓ 72% Screening Latency Reduction: </a:t>
            </a:r>
            <a:r>
              <a:rPr sz="950">
                <a:solidFill>
                  <a:srgbClr val="64748B"/>
                </a:solidFill>
              </a:rPr>
              <a:t>Average candidate evaluation time per profile reduced from 6.8 minutes to under 1.9 minutes.</a:t>
            </a:r>
          </a:p>
          <a:p>
            <a:pPr>
              <a:spcBef>
                <a:spcPts val="1000"/>
              </a:spcBef>
            </a:pPr>
            <a:r>
              <a:rPr b="1" sz="950">
                <a:solidFill>
                  <a:srgbClr val="0F172A"/>
                </a:solidFill>
              </a:rPr>
              <a:t>✓ Zero Context Loss: </a:t>
            </a:r>
            <a:r>
              <a:rPr sz="950">
                <a:solidFill>
                  <a:srgbClr val="64748B"/>
                </a:solidFill>
              </a:rPr>
              <a:t>Persistent active JD state stored in LocalStorage guarantees persistent evaluation anchoring across all application views.</a:t>
            </a:r>
          </a:p>
          <a:p>
            <a:pPr>
              <a:spcBef>
                <a:spcPts val="1000"/>
              </a:spcBef>
            </a:pPr>
            <a:r>
              <a:rPr b="1" sz="950">
                <a:solidFill>
                  <a:srgbClr val="0F172A"/>
                </a:solidFill>
              </a:rPr>
              <a:t>✓ Enhanced Perceived Speed: </a:t>
            </a:r>
            <a:r>
              <a:rPr sz="950">
                <a:solidFill>
                  <a:srgbClr val="64748B"/>
                </a:solidFill>
              </a:rPr>
              <a:t>Custom skeleton shimmer loading states reduce subjective wait anxiety during heavy multi-modal AI processing.</a:t>
            </a:r>
          </a:p>
          <a:p>
            <a:pPr>
              <a:spcBef>
                <a:spcPts val="1000"/>
              </a:spcBef>
            </a:pPr>
            <a:r>
              <a:rPr b="1" sz="950">
                <a:solidFill>
                  <a:srgbClr val="0F172A"/>
                </a:solidFill>
              </a:rPr>
              <a:t>✓ Anti-Hallucination Trust: </a:t>
            </a:r>
            <a:r>
              <a:rPr sz="950">
                <a:solidFill>
                  <a:srgbClr val="64748B"/>
                </a:solidFill>
              </a:rPr>
              <a:t>Source-grounded decision support builds user trust (HCI Trust in Automation principle).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ACADEMIC FRAMEWORK • CSE4012 SYLLABUS ALIGNMENT</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Comprehensive Curriculum &amp; Course Outcome (CO) Mapping</a:t>
            </a:r>
          </a:p>
          <a:p>
            <a:pPr>
              <a:spcBef>
                <a:spcPts val="300"/>
              </a:spcBef>
              <a:defRPr sz="1100">
                <a:solidFill>
                  <a:srgbClr val="64748B"/>
                </a:solidFill>
                <a:latin typeface="Inter"/>
              </a:defRPr>
            </a:pPr>
            <a:r>
              <a:t>Systematic verification of all 6 syllabus modules and Course Outcomes in Recruvo</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graphicFrame>
        <p:nvGraphicFramePr>
          <p:cNvPr id="6" name="Table 5"/>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1645920"/>
                <a:gridCol w="2103120"/>
                <a:gridCol w="3931920"/>
                <a:gridCol w="3047695"/>
              </a:tblGrid>
              <a:tr h="692331">
                <a:tc>
                  <a:txBody>
                    <a:bodyPr lIns="109728" tIns="73152"/>
                    <a:lstStyle/>
                    <a:p>
                      <a:pPr>
                        <a:defRPr sz="950" b="1">
                          <a:solidFill>
                            <a:srgbClr val="FFFFFF"/>
                          </a:solidFill>
                          <a:latin typeface="Inter"/>
                        </a:defRPr>
                      </a:pPr>
                      <a:r>
                        <a:t>Module &amp; CO</a:t>
                      </a:r>
                    </a:p>
                  </a:txBody>
                  <a:tcPr>
                    <a:solidFill>
                      <a:srgbClr val="0F172A"/>
                    </a:solidFill>
                  </a:tcPr>
                </a:tc>
                <a:tc>
                  <a:txBody>
                    <a:bodyPr lIns="109728" tIns="73152"/>
                    <a:lstStyle/>
                    <a:p>
                      <a:pPr>
                        <a:defRPr sz="950" b="1">
                          <a:solidFill>
                            <a:srgbClr val="FFFFFF"/>
                          </a:solidFill>
                          <a:latin typeface="Inter"/>
                        </a:defRPr>
                      </a:pPr>
                      <a:r>
                        <a:t>Syllabus Focus Area</a:t>
                      </a:r>
                    </a:p>
                  </a:txBody>
                  <a:tcPr>
                    <a:solidFill>
                      <a:srgbClr val="0F172A"/>
                    </a:solidFill>
                  </a:tcPr>
                </a:tc>
                <a:tc>
                  <a:txBody>
                    <a:bodyPr lIns="109728" tIns="73152"/>
                    <a:lstStyle/>
                    <a:p>
                      <a:pPr>
                        <a:defRPr sz="950" b="1">
                          <a:solidFill>
                            <a:srgbClr val="FFFFFF"/>
                          </a:solidFill>
                          <a:latin typeface="Inter"/>
                        </a:defRPr>
                      </a:pPr>
                      <a:r>
                        <a:t>Recruvo Implementation Artifacts</a:t>
                      </a:r>
                    </a:p>
                  </a:txBody>
                  <a:tcPr>
                    <a:solidFill>
                      <a:srgbClr val="0F172A"/>
                    </a:solidFill>
                  </a:tcPr>
                </a:tc>
                <a:tc>
                  <a:txBody>
                    <a:bodyPr lIns="109728" tIns="73152"/>
                    <a:lstStyle/>
                    <a:p>
                      <a:pPr>
                        <a:defRPr sz="950" b="1">
                          <a:solidFill>
                            <a:srgbClr val="FFFFFF"/>
                          </a:solidFill>
                          <a:latin typeface="Inter"/>
                        </a:defRPr>
                      </a:pPr>
                      <a:r>
                        <a:t>UX / HCI Impact</a:t>
                      </a:r>
                    </a:p>
                  </a:txBody>
                  <a:tcPr>
                    <a:solidFill>
                      <a:srgbClr val="0F172A"/>
                    </a:solidFill>
                  </a:tcPr>
                </a:tc>
              </a:tr>
              <a:tr h="692331">
                <a:tc>
                  <a:txBody>
                    <a:bodyPr tIns="54864"/>
                    <a:lstStyle/>
                    <a:p>
                      <a:pPr>
                        <a:defRPr sz="850" b="1">
                          <a:solidFill>
                            <a:srgbClr val="4F46E5"/>
                          </a:solidFill>
                          <a:latin typeface="Inter"/>
                        </a:defRPr>
                      </a:pPr>
                      <a:r>
                        <a:t>Module 1 (CO1)</a:t>
                      </a:r>
                      <a:br/>
                      <a:r>
                        <a:t>Intro to UI</a:t>
                      </a:r>
                    </a:p>
                  </a:txBody>
                  <a:tcPr>
                    <a:solidFill>
                      <a:srgbClr val="FFFFFF"/>
                    </a:solidFill>
                  </a:tcPr>
                </a:tc>
                <a:tc>
                  <a:txBody>
                    <a:bodyPr tIns="54864"/>
                    <a:lstStyle/>
                    <a:p>
                      <a:pPr>
                        <a:defRPr sz="850" b="1">
                          <a:solidFill>
                            <a:srgbClr val="0F172A"/>
                          </a:solidFill>
                          <a:latin typeface="Inter"/>
                        </a:defRPr>
                      </a:pPr>
                      <a:r>
                        <a:t>UI Lifecycle, Psychology, Human Factors, UI Tools</a:t>
                      </a:r>
                    </a:p>
                  </a:txBody>
                  <a:tcPr>
                    <a:solidFill>
                      <a:srgbClr val="FFFFFF"/>
                    </a:solidFill>
                  </a:tcPr>
                </a:tc>
                <a:tc>
                  <a:txBody>
                    <a:bodyPr tIns="54864"/>
                    <a:lstStyle/>
                    <a:p>
                      <a:pPr>
                        <a:defRPr sz="850">
                          <a:solidFill>
                            <a:srgbClr val="334155"/>
                          </a:solidFill>
                          <a:latin typeface="Inter"/>
                        </a:defRPr>
                      </a:pPr>
                      <a:r>
                        <a:t>Figma prototyping, 6-stage UI lifecycle, Bento-grid design system, Tailwind design tokens in index.css</a:t>
                      </a:r>
                    </a:p>
                  </a:txBody>
                  <a:tcPr>
                    <a:solidFill>
                      <a:srgbClr val="FFFFFF"/>
                    </a:solidFill>
                  </a:tcPr>
                </a:tc>
                <a:tc>
                  <a:txBody>
                    <a:bodyPr tIns="54864"/>
                    <a:lstStyle/>
                    <a:p>
                      <a:pPr>
                        <a:defRPr sz="850">
                          <a:solidFill>
                            <a:srgbClr val="334155"/>
                          </a:solidFill>
                          <a:latin typeface="Inter"/>
                        </a:defRPr>
                      </a:pPr>
                      <a:r>
                        <a:t>Minimizes cognitive load; establishes visual rhythm and modern typography.</a:t>
                      </a:r>
                    </a:p>
                  </a:txBody>
                  <a:tcPr>
                    <a:solidFill>
                      <a:srgbClr val="FFFFFF"/>
                    </a:solidFill>
                  </a:tcPr>
                </a:tc>
              </a:tr>
              <a:tr h="692331">
                <a:tc>
                  <a:txBody>
                    <a:bodyPr tIns="54864"/>
                    <a:lstStyle/>
                    <a:p>
                      <a:pPr>
                        <a:defRPr sz="850" b="1">
                          <a:solidFill>
                            <a:srgbClr val="4F46E5"/>
                          </a:solidFill>
                          <a:latin typeface="Inter"/>
                        </a:defRPr>
                      </a:pPr>
                      <a:r>
                        <a:t>Module 2 (CO2)</a:t>
                      </a:r>
                      <a:br/>
                      <a:r>
                        <a:t>HCI Principles</a:t>
                      </a:r>
                    </a:p>
                  </a:txBody>
                  <a:tcPr>
                    <a:solidFill>
                      <a:srgbClr val="F1F5F9"/>
                    </a:solidFill>
                  </a:tcPr>
                </a:tc>
                <a:tc>
                  <a:txBody>
                    <a:bodyPr tIns="54864"/>
                    <a:lstStyle/>
                    <a:p>
                      <a:pPr>
                        <a:defRPr sz="850" b="1">
                          <a:solidFill>
                            <a:srgbClr val="0F172A"/>
                          </a:solidFill>
                          <a:latin typeface="Inter"/>
                        </a:defRPr>
                      </a:pPr>
                      <a:r>
                        <a:t>Usability, System Timings, Menus &amp; Navigation</a:t>
                      </a:r>
                    </a:p>
                  </a:txBody>
                  <a:tcPr>
                    <a:solidFill>
                      <a:srgbClr val="F1F5F9"/>
                    </a:solidFill>
                  </a:tcPr>
                </a:tc>
                <a:tc>
                  <a:txBody>
                    <a:bodyPr tIns="54864"/>
                    <a:lstStyle/>
                    <a:p>
                      <a:pPr>
                        <a:defRPr sz="850">
                          <a:solidFill>
                            <a:srgbClr val="334155"/>
                          </a:solidFill>
                          <a:latin typeface="Inter"/>
                        </a:defRPr>
                      </a:pPr>
                      <a:r>
                        <a:t>Hierarchical AppShell nav, persistent active JD selector, Skeleton shimmer states, Command Palette (Ctrl+K)</a:t>
                      </a:r>
                    </a:p>
                  </a:txBody>
                  <a:tcPr>
                    <a:solidFill>
                      <a:srgbClr val="F1F5F9"/>
                    </a:solidFill>
                  </a:tcPr>
                </a:tc>
                <a:tc>
                  <a:txBody>
                    <a:bodyPr tIns="54864"/>
                    <a:lstStyle/>
                    <a:p>
                      <a:pPr>
                        <a:defRPr sz="850">
                          <a:solidFill>
                            <a:srgbClr val="334155"/>
                          </a:solidFill>
                          <a:latin typeface="Inter"/>
                        </a:defRPr>
                      </a:pPr>
                      <a:r>
                        <a:t>Zero navigation confusion; optimized perceived performance and interaction speed.</a:t>
                      </a:r>
                    </a:p>
                  </a:txBody>
                  <a:tcPr>
                    <a:solidFill>
                      <a:srgbClr val="F1F5F9"/>
                    </a:solidFill>
                  </a:tcPr>
                </a:tc>
              </a:tr>
              <a:tr h="692331">
                <a:tc>
                  <a:txBody>
                    <a:bodyPr tIns="54864"/>
                    <a:lstStyle/>
                    <a:p>
                      <a:pPr>
                        <a:defRPr sz="850" b="1">
                          <a:solidFill>
                            <a:srgbClr val="4F46E5"/>
                          </a:solidFill>
                          <a:latin typeface="Inter"/>
                        </a:defRPr>
                      </a:pPr>
                      <a:r>
                        <a:t>Module 3 (CO3)</a:t>
                      </a:r>
                      <a:br/>
                      <a:r>
                        <a:t>Interactive Techniques</a:t>
                      </a:r>
                    </a:p>
                  </a:txBody>
                  <a:tcPr>
                    <a:solidFill>
                      <a:srgbClr val="FFFFFF"/>
                    </a:solidFill>
                  </a:tcPr>
                </a:tc>
                <a:tc>
                  <a:txBody>
                    <a:bodyPr tIns="54864"/>
                    <a:lstStyle/>
                    <a:p>
                      <a:pPr>
                        <a:defRPr sz="850" b="1">
                          <a:solidFill>
                            <a:srgbClr val="0F172A"/>
                          </a:solidFill>
                          <a:latin typeface="Inter"/>
                        </a:defRPr>
                      </a:pPr>
                      <a:r>
                        <a:t>Requirements Gathering, Interviews, Card Sorting</a:t>
                      </a:r>
                    </a:p>
                  </a:txBody>
                  <a:tcPr>
                    <a:solidFill>
                      <a:srgbClr val="FFFFFF"/>
                    </a:solidFill>
                  </a:tcPr>
                </a:tc>
                <a:tc>
                  <a:txBody>
                    <a:bodyPr tIns="54864"/>
                    <a:lstStyle/>
                    <a:p>
                      <a:pPr>
                        <a:defRPr sz="850">
                          <a:solidFill>
                            <a:srgbClr val="334155"/>
                          </a:solidFill>
                          <a:latin typeface="Inter"/>
                        </a:defRPr>
                      </a:pPr>
                      <a:r>
                        <a:t>Recruiter interviews, open/closed card sorting producing the 5-Pillar Profile chunking, user journeys</a:t>
                      </a:r>
                    </a:p>
                  </a:txBody>
                  <a:tcPr>
                    <a:solidFill>
                      <a:srgbClr val="FFFFFF"/>
                    </a:solidFill>
                  </a:tcPr>
                </a:tc>
                <a:tc>
                  <a:txBody>
                    <a:bodyPr tIns="54864"/>
                    <a:lstStyle/>
                    <a:p>
                      <a:pPr>
                        <a:defRPr sz="850">
                          <a:solidFill>
                            <a:srgbClr val="334155"/>
                          </a:solidFill>
                          <a:latin typeface="Inter"/>
                        </a:defRPr>
                      </a:pPr>
                      <a:r>
                        <a:t>Organizes 35+ parameters into an intuitive, recruiter-aligned mental model.</a:t>
                      </a:r>
                    </a:p>
                  </a:txBody>
                  <a:tcPr>
                    <a:solidFill>
                      <a:srgbClr val="FFFFFF"/>
                    </a:solidFill>
                  </a:tcPr>
                </a:tc>
              </a:tr>
              <a:tr h="692331">
                <a:tc>
                  <a:txBody>
                    <a:bodyPr tIns="54864"/>
                    <a:lstStyle/>
                    <a:p>
                      <a:pPr>
                        <a:defRPr sz="850" b="1">
                          <a:solidFill>
                            <a:srgbClr val="4F46E5"/>
                          </a:solidFill>
                          <a:latin typeface="Inter"/>
                        </a:defRPr>
                      </a:pPr>
                      <a:r>
                        <a:t>Module 4 (CO4)</a:t>
                      </a:r>
                      <a:br/>
                      <a:r>
                        <a:t>Experience Design</a:t>
                      </a:r>
                    </a:p>
                  </a:txBody>
                  <a:tcPr>
                    <a:solidFill>
                      <a:srgbClr val="F1F5F9"/>
                    </a:solidFill>
                  </a:tcPr>
                </a:tc>
                <a:tc>
                  <a:txBody>
                    <a:bodyPr tIns="54864"/>
                    <a:lstStyle/>
                    <a:p>
                      <a:pPr>
                        <a:defRPr sz="850" b="1">
                          <a:solidFill>
                            <a:srgbClr val="0F172A"/>
                          </a:solidFill>
                          <a:latin typeface="Inter"/>
                        </a:defRPr>
                      </a:pPr>
                      <a:r>
                        <a:t>Browsers, Viewports, Aesthetics, Service Design</a:t>
                      </a:r>
                    </a:p>
                  </a:txBody>
                  <a:tcPr>
                    <a:solidFill>
                      <a:srgbClr val="F1F5F9"/>
                    </a:solidFill>
                  </a:tcPr>
                </a:tc>
                <a:tc>
                  <a:txBody>
                    <a:bodyPr tIns="54864"/>
                    <a:lstStyle/>
                    <a:p>
                      <a:pPr>
                        <a:defRPr sz="850">
                          <a:solidFill>
                            <a:srgbClr val="334155"/>
                          </a:solidFill>
                          <a:latin typeface="Inter"/>
                        </a:defRPr>
                      </a:pPr>
                      <a:r>
                        <a:t>Responsive viewport breakpoints, Lucide iconography, radial SVG gauges, end-to-end recruitment service blueprint</a:t>
                      </a:r>
                    </a:p>
                  </a:txBody>
                  <a:tcPr>
                    <a:solidFill>
                      <a:srgbClr val="F1F5F9"/>
                    </a:solidFill>
                  </a:tcPr>
                </a:tc>
                <a:tc>
                  <a:txBody>
                    <a:bodyPr tIns="54864"/>
                    <a:lstStyle/>
                    <a:p>
                      <a:pPr>
                        <a:defRPr sz="850">
                          <a:solidFill>
                            <a:srgbClr val="334155"/>
                          </a:solidFill>
                          <a:latin typeface="Inter"/>
                        </a:defRPr>
                      </a:pPr>
                      <a:r>
                        <a:t>Delivers professional visual polish, clear scannability, and high user delight.</a:t>
                      </a:r>
                    </a:p>
                  </a:txBody>
                  <a:tcPr>
                    <a:solidFill>
                      <a:srgbClr val="F1F5F9"/>
                    </a:solidFill>
                  </a:tcPr>
                </a:tc>
              </a:tr>
              <a:tr h="692331">
                <a:tc>
                  <a:txBody>
                    <a:bodyPr tIns="54864"/>
                    <a:lstStyle/>
                    <a:p>
                      <a:pPr>
                        <a:defRPr sz="850" b="1">
                          <a:solidFill>
                            <a:srgbClr val="4F46E5"/>
                          </a:solidFill>
                          <a:latin typeface="Inter"/>
                        </a:defRPr>
                      </a:pPr>
                      <a:r>
                        <a:t>Module 5 (CO5)</a:t>
                      </a:r>
                      <a:br/>
                      <a:r>
                        <a:t>Agents &amp; Avatars</a:t>
                      </a:r>
                    </a:p>
                  </a:txBody>
                  <a:tcPr>
                    <a:solidFill>
                      <a:srgbClr val="FFFFFF"/>
                    </a:solidFill>
                  </a:tcPr>
                </a:tc>
                <a:tc>
                  <a:txBody>
                    <a:bodyPr tIns="54864"/>
                    <a:lstStyle/>
                    <a:p>
                      <a:pPr>
                        <a:defRPr sz="850" b="1">
                          <a:solidFill>
                            <a:srgbClr val="0F172A"/>
                          </a:solidFill>
                          <a:latin typeface="Inter"/>
                        </a:defRPr>
                      </a:pPr>
                      <a:r>
                        <a:t>Agents, Adaptive Systems, Conversational UI</a:t>
                      </a:r>
                    </a:p>
                  </a:txBody>
                  <a:tcPr>
                    <a:solidFill>
                      <a:srgbClr val="FFFFFF"/>
                    </a:solidFill>
                  </a:tcPr>
                </a:tc>
                <a:tc>
                  <a:txBody>
                    <a:bodyPr tIns="54864"/>
                    <a:lstStyle/>
                    <a:p>
                      <a:pPr>
                        <a:defRPr sz="850">
                          <a:solidFill>
                            <a:srgbClr val="334155"/>
                          </a:solidFill>
                          <a:latin typeface="Inter"/>
                        </a:defRPr>
                      </a:pPr>
                      <a:r>
                        <a:t>RecruvoAIChat widget, dual-avatar conversational UI, grounded anti-hallucination engine, prompt chips</a:t>
                      </a:r>
                    </a:p>
                  </a:txBody>
                  <a:tcPr>
                    <a:solidFill>
                      <a:srgbClr val="FFFFFF"/>
                    </a:solidFill>
                  </a:tcPr>
                </a:tc>
                <a:tc>
                  <a:txBody>
                    <a:bodyPr tIns="54864"/>
                    <a:lstStyle/>
                    <a:p>
                      <a:pPr>
                        <a:defRPr sz="850">
                          <a:solidFill>
                            <a:srgbClr val="334155"/>
                          </a:solidFill>
                          <a:latin typeface="Inter"/>
                        </a:defRPr>
                      </a:pPr>
                      <a:r>
                        <a:t>Provides context-aware decision assistance without cluttering main interface.</a:t>
                      </a:r>
                    </a:p>
                  </a:txBody>
                  <a:tcPr>
                    <a:solidFill>
                      <a:srgbClr val="FFFFFF"/>
                    </a:solidFill>
                  </a:tcPr>
                </a:tc>
              </a:tr>
              <a:tr h="692334">
                <a:tc>
                  <a:txBody>
                    <a:bodyPr tIns="54864"/>
                    <a:lstStyle/>
                    <a:p>
                      <a:pPr>
                        <a:defRPr sz="850" b="1">
                          <a:solidFill>
                            <a:srgbClr val="4F46E5"/>
                          </a:solidFill>
                          <a:latin typeface="Inter"/>
                        </a:defRPr>
                      </a:pPr>
                      <a:r>
                        <a:t>Module 6 (CO6)</a:t>
                      </a:r>
                      <a:br/>
                      <a:r>
                        <a:t>Mobile &amp; Device UI</a:t>
                      </a:r>
                    </a:p>
                  </a:txBody>
                  <a:tcPr>
                    <a:solidFill>
                      <a:srgbClr val="F1F5F9"/>
                    </a:solidFill>
                  </a:tcPr>
                </a:tc>
                <a:tc>
                  <a:txBody>
                    <a:bodyPr tIns="54864"/>
                    <a:lstStyle/>
                    <a:p>
                      <a:pPr>
                        <a:defRPr sz="850" b="1">
                          <a:solidFill>
                            <a:srgbClr val="0F172A"/>
                          </a:solidFill>
                          <a:latin typeface="Inter"/>
                        </a:defRPr>
                      </a:pPr>
                      <a:r>
                        <a:t>Mobile UI, Screen Densities, Layout Constraints</a:t>
                      </a:r>
                    </a:p>
                  </a:txBody>
                  <a:tcPr>
                    <a:solidFill>
                      <a:srgbClr val="F1F5F9"/>
                    </a:solidFill>
                  </a:tcPr>
                </a:tc>
                <a:tc>
                  <a:txBody>
                    <a:bodyPr tIns="54864"/>
                    <a:lstStyle/>
                    <a:p>
                      <a:pPr>
                        <a:defRPr sz="850">
                          <a:solidFill>
                            <a:srgbClr val="334155"/>
                          </a:solidFill>
                          <a:latin typeface="Inter"/>
                        </a:defRPr>
                      </a:pPr>
                      <a:r>
                        <a:t>Collapsible slide-over drawer sidebar, touch targets &gt;=44px, responsive card fallback for comparison tables</a:t>
                      </a:r>
                    </a:p>
                  </a:txBody>
                  <a:tcPr>
                    <a:solidFill>
                      <a:srgbClr val="F1F5F9"/>
                    </a:solidFill>
                  </a:tcPr>
                </a:tc>
                <a:tc>
                  <a:txBody>
                    <a:bodyPr tIns="54864"/>
                    <a:lstStyle/>
                    <a:p>
                      <a:pPr>
                        <a:defRPr sz="850">
                          <a:solidFill>
                            <a:srgbClr val="334155"/>
                          </a:solidFill>
                          <a:latin typeface="Inter"/>
                        </a:defRPr>
                      </a:pPr>
                      <a:r>
                        <a:t>Seamless responsiveness across desktop, tablet, and mobile displays.</a:t>
                      </a:r>
                    </a:p>
                  </a:txBody>
                  <a:tcPr>
                    <a:solidFill>
                      <a:srgbClr val="F1F5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1 &amp; LAB EXPERIMENTS 1-6 • UI DESIGN LIFECYCLE</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The UI Lifecycle: From Requirements to Working System</a:t>
            </a:r>
          </a:p>
          <a:p>
            <a:pPr>
              <a:spcBef>
                <a:spcPts val="300"/>
              </a:spcBef>
              <a:defRPr sz="1100">
                <a:solidFill>
                  <a:srgbClr val="64748B"/>
                </a:solidFill>
                <a:latin typeface="Inter"/>
              </a:defRPr>
            </a:pPr>
            <a:r>
              <a:t>Iterative design methodology executed across the Recruvo product development process</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1691640" cy="347472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850" b="1">
                <a:solidFill>
                  <a:srgbClr val="4F46E5"/>
                </a:solidFill>
                <a:latin typeface="Inter"/>
              </a:defRPr>
            </a:pPr>
            <a:r>
              <a:t>PHASE 1</a:t>
            </a:r>
          </a:p>
          <a:p>
            <a:pPr>
              <a:spcBef>
                <a:spcPts val="200"/>
              </a:spcBef>
              <a:defRPr sz="1100" b="1">
                <a:solidFill>
                  <a:srgbClr val="0F172A"/>
                </a:solidFill>
                <a:latin typeface="Plus Jakarta Sans"/>
              </a:defRPr>
            </a:pPr>
            <a:r>
              <a:t>Requirement</a:t>
            </a:r>
            <a:br/>
            <a:r>
              <a:t>Discovery</a:t>
            </a:r>
          </a:p>
          <a:p>
            <a:pPr>
              <a:spcBef>
                <a:spcPts val="600"/>
              </a:spcBef>
              <a:defRPr sz="850">
                <a:solidFill>
                  <a:srgbClr val="64748B"/>
                </a:solidFill>
                <a:latin typeface="Inter"/>
              </a:defRPr>
            </a:pPr>
            <a:r>
              <a:t>• Recruiter interviews</a:t>
            </a:r>
            <a:br/>
            <a:r>
              <a:t>• Shadowing drives</a:t>
            </a:r>
            <a:br/>
            <a:r>
              <a:t>• Pain-point mapping</a:t>
            </a:r>
            <a:br/>
            <a:r>
              <a:t>• Task frequency logs</a:t>
            </a:r>
          </a:p>
        </p:txBody>
      </p:sp>
      <p:sp>
        <p:nvSpPr>
          <p:cNvPr id="7" name="Rounded Rectangle 6"/>
          <p:cNvSpPr/>
          <p:nvPr/>
        </p:nvSpPr>
        <p:spPr>
          <a:xfrm>
            <a:off x="2532888" y="1463040"/>
            <a:ext cx="169164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850" b="1">
                <a:solidFill>
                  <a:srgbClr val="4F46E5"/>
                </a:solidFill>
                <a:latin typeface="Inter"/>
              </a:defRPr>
            </a:pPr>
            <a:r>
              <a:t>PHASE 2</a:t>
            </a:r>
          </a:p>
          <a:p>
            <a:pPr>
              <a:spcBef>
                <a:spcPts val="200"/>
              </a:spcBef>
              <a:defRPr sz="1100" b="1">
                <a:solidFill>
                  <a:srgbClr val="0F172A"/>
                </a:solidFill>
                <a:latin typeface="Plus Jakarta Sans"/>
              </a:defRPr>
            </a:pPr>
            <a:r>
              <a:t>Conceptual</a:t>
            </a:r>
            <a:br/>
            <a:r>
              <a:t>Modeling</a:t>
            </a:r>
          </a:p>
          <a:p>
            <a:pPr>
              <a:spcBef>
                <a:spcPts val="600"/>
              </a:spcBef>
              <a:defRPr sz="850">
                <a:solidFill>
                  <a:srgbClr val="64748B"/>
                </a:solidFill>
                <a:latin typeface="Inter"/>
              </a:defRPr>
            </a:pPr>
            <a:r>
              <a:t>• 5-Pillar mental model</a:t>
            </a:r>
            <a:br/>
            <a:r>
              <a:t>• Open/closed card sorting</a:t>
            </a:r>
            <a:br/>
            <a:r>
              <a:t>• User journey mapping</a:t>
            </a:r>
            <a:br/>
            <a:r>
              <a:t>• Recruiter personas</a:t>
            </a:r>
          </a:p>
        </p:txBody>
      </p:sp>
      <p:sp>
        <p:nvSpPr>
          <p:cNvPr id="8" name="Rounded Rectangle 7"/>
          <p:cNvSpPr/>
          <p:nvPr/>
        </p:nvSpPr>
        <p:spPr>
          <a:xfrm>
            <a:off x="4334256" y="1463040"/>
            <a:ext cx="169164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850" b="1">
                <a:solidFill>
                  <a:srgbClr val="4F46E5"/>
                </a:solidFill>
                <a:latin typeface="Inter"/>
              </a:defRPr>
            </a:pPr>
            <a:r>
              <a:t>PHASE 3</a:t>
            </a:r>
          </a:p>
          <a:p>
            <a:pPr>
              <a:spcBef>
                <a:spcPts val="200"/>
              </a:spcBef>
              <a:defRPr sz="1100" b="1">
                <a:solidFill>
                  <a:srgbClr val="0F172A"/>
                </a:solidFill>
                <a:latin typeface="Plus Jakarta Sans"/>
              </a:defRPr>
            </a:pPr>
            <a:r>
              <a:t>Paper &amp; Low-Fi</a:t>
            </a:r>
            <a:br/>
            <a:r>
              <a:t>Wireframing</a:t>
            </a:r>
          </a:p>
          <a:p>
            <a:pPr>
              <a:spcBef>
                <a:spcPts val="600"/>
              </a:spcBef>
              <a:defRPr sz="850">
                <a:solidFill>
                  <a:srgbClr val="64748B"/>
                </a:solidFill>
                <a:latin typeface="Inter"/>
              </a:defRPr>
            </a:pPr>
            <a:r>
              <a:t>• Paper-based prototypes</a:t>
            </a:r>
            <a:br/>
            <a:r>
              <a:t>• Structural sketches</a:t>
            </a:r>
            <a:br/>
            <a:r>
              <a:t>• Information hierarchy</a:t>
            </a:r>
            <a:br/>
            <a:r>
              <a:t>• Layout exploration</a:t>
            </a:r>
          </a:p>
        </p:txBody>
      </p:sp>
      <p:sp>
        <p:nvSpPr>
          <p:cNvPr id="9" name="Rounded Rectangle 8"/>
          <p:cNvSpPr/>
          <p:nvPr/>
        </p:nvSpPr>
        <p:spPr>
          <a:xfrm>
            <a:off x="6135624" y="1463040"/>
            <a:ext cx="169164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850" b="1">
                <a:solidFill>
                  <a:srgbClr val="4F46E5"/>
                </a:solidFill>
                <a:latin typeface="Inter"/>
              </a:defRPr>
            </a:pPr>
            <a:r>
              <a:t>PHASE 4</a:t>
            </a:r>
          </a:p>
          <a:p>
            <a:pPr>
              <a:spcBef>
                <a:spcPts val="200"/>
              </a:spcBef>
              <a:defRPr sz="1100" b="1">
                <a:solidFill>
                  <a:srgbClr val="0F172A"/>
                </a:solidFill>
                <a:latin typeface="Plus Jakarta Sans"/>
              </a:defRPr>
            </a:pPr>
            <a:r>
              <a:t>High-Fidelity</a:t>
            </a:r>
            <a:br/>
            <a:r>
              <a:t>Design System</a:t>
            </a:r>
          </a:p>
          <a:p>
            <a:pPr>
              <a:spcBef>
                <a:spcPts val="600"/>
              </a:spcBef>
              <a:defRPr sz="850">
                <a:solidFill>
                  <a:srgbClr val="64748B"/>
                </a:solidFill>
                <a:latin typeface="Inter"/>
              </a:defRPr>
            </a:pPr>
            <a:r>
              <a:t>• Figma component library</a:t>
            </a:r>
            <a:br/>
            <a:r>
              <a:t>• Bento card specs</a:t>
            </a:r>
            <a:br/>
            <a:r>
              <a:t>• Typography tokens</a:t>
            </a:r>
            <a:br/>
            <a:r>
              <a:t>• Radial score rings</a:t>
            </a:r>
          </a:p>
        </p:txBody>
      </p:sp>
      <p:sp>
        <p:nvSpPr>
          <p:cNvPr id="10" name="Rounded Rectangle 9"/>
          <p:cNvSpPr/>
          <p:nvPr/>
        </p:nvSpPr>
        <p:spPr>
          <a:xfrm>
            <a:off x="7936992" y="1463040"/>
            <a:ext cx="169164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850" b="1">
                <a:solidFill>
                  <a:srgbClr val="4F46E5"/>
                </a:solidFill>
                <a:latin typeface="Inter"/>
              </a:defRPr>
            </a:pPr>
            <a:r>
              <a:t>PHASE 5</a:t>
            </a:r>
          </a:p>
          <a:p>
            <a:pPr>
              <a:spcBef>
                <a:spcPts val="200"/>
              </a:spcBef>
              <a:defRPr sz="1100" b="1">
                <a:solidFill>
                  <a:srgbClr val="0F172A"/>
                </a:solidFill>
                <a:latin typeface="Plus Jakarta Sans"/>
              </a:defRPr>
            </a:pPr>
            <a:r>
              <a:t>System</a:t>
            </a:r>
            <a:br/>
            <a:r>
              <a:t>Implementation</a:t>
            </a:r>
          </a:p>
          <a:p>
            <a:pPr>
              <a:spcBef>
                <a:spcPts val="600"/>
              </a:spcBef>
              <a:defRPr sz="850">
                <a:solidFill>
                  <a:srgbClr val="64748B"/>
                </a:solidFill>
                <a:latin typeface="Inter"/>
              </a:defRPr>
            </a:pPr>
            <a:r>
              <a:t>• React 19 + Vite 8</a:t>
            </a:r>
            <a:br/>
            <a:r>
              <a:t>• Tailwind CSS tokens</a:t>
            </a:r>
            <a:br/>
            <a:r>
              <a:t>• Context state store</a:t>
            </a:r>
            <a:br/>
            <a:r>
              <a:t>• Grounded Gemini AI</a:t>
            </a:r>
          </a:p>
        </p:txBody>
      </p:sp>
      <p:sp>
        <p:nvSpPr>
          <p:cNvPr id="11" name="Rounded Rectangle 10"/>
          <p:cNvSpPr/>
          <p:nvPr/>
        </p:nvSpPr>
        <p:spPr>
          <a:xfrm>
            <a:off x="9738360" y="1463040"/>
            <a:ext cx="1691640" cy="347472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850" b="1">
                <a:solidFill>
                  <a:srgbClr val="4F46E5"/>
                </a:solidFill>
                <a:latin typeface="Inter"/>
              </a:defRPr>
            </a:pPr>
            <a:r>
              <a:t>PHASE 6</a:t>
            </a:r>
          </a:p>
          <a:p>
            <a:pPr>
              <a:spcBef>
                <a:spcPts val="200"/>
              </a:spcBef>
              <a:defRPr sz="1100" b="1">
                <a:solidFill>
                  <a:srgbClr val="0F172A"/>
                </a:solidFill>
                <a:latin typeface="Plus Jakarta Sans"/>
              </a:defRPr>
            </a:pPr>
            <a:r>
              <a:t>Testing &amp;</a:t>
            </a:r>
            <a:br/>
            <a:r>
              <a:t>Evaluation</a:t>
            </a:r>
          </a:p>
          <a:p>
            <a:pPr>
              <a:spcBef>
                <a:spcPts val="600"/>
              </a:spcBef>
              <a:defRPr sz="850">
                <a:solidFill>
                  <a:srgbClr val="64748B"/>
                </a:solidFill>
                <a:latin typeface="Inter"/>
              </a:defRPr>
            </a:pPr>
            <a:r>
              <a:t>• SUS benchmarking</a:t>
            </a:r>
            <a:br/>
            <a:r>
              <a:t>• Heuristic evaluation</a:t>
            </a:r>
            <a:br/>
            <a:r>
              <a:t>• Task completion tests</a:t>
            </a:r>
            <a:br/>
            <a:r>
              <a:t>• Recruiter feedback</a:t>
            </a:r>
          </a:p>
        </p:txBody>
      </p:sp>
      <p:sp>
        <p:nvSpPr>
          <p:cNvPr id="12" name="Rounded Rectangle 11"/>
          <p:cNvSpPr/>
          <p:nvPr/>
        </p:nvSpPr>
        <p:spPr>
          <a:xfrm>
            <a:off x="731520" y="5120640"/>
            <a:ext cx="10728655" cy="11887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0F172A"/>
                </a:solidFill>
                <a:latin typeface="Inter"/>
              </a:defRPr>
            </a:pPr>
            <a:r>
              <a:t>ACADEMIC LAB EXPERIMENT RIGOR (EX 1 THROUGH 8)</a:t>
            </a:r>
          </a:p>
          <a:p>
            <a:pPr>
              <a:spcBef>
                <a:spcPts val="300"/>
              </a:spcBef>
              <a:defRPr sz="900">
                <a:solidFill>
                  <a:srgbClr val="334155"/>
                </a:solidFill>
                <a:latin typeface="Inter"/>
              </a:defRPr>
            </a:pPr>
            <a:r>
              <a:t>Ex 1: UI Lifecycle Introduction  |  Ex 2: Requirement Gathering for Recruvo  |  Ex 3: Analysis &amp; Design Specifications  |  Ex 4: Paper-based Prototype &amp; Card Sorting</a:t>
            </a:r>
            <a:br/>
            <a:r>
              <a:t>Ex 5: Storyboarding Task Flows  |  Ex 6: Implementation of UI System &amp; Design Tokens  |  Ex 7: Usability Testing &amp; Heuristic Evaluation  |  Ex 8: Final Project Demonstration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3 • TECHNIQUES FOR DESIGNING INTERACTIVE SYSTEMS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User Research, Participative Inquiry &amp; Persona Modeling</a:t>
            </a:r>
          </a:p>
          <a:p>
            <a:pPr>
              <a:spcBef>
                <a:spcPts val="300"/>
              </a:spcBef>
              <a:defRPr sz="1100">
                <a:solidFill>
                  <a:srgbClr val="64748B"/>
                </a:solidFill>
                <a:latin typeface="Inter"/>
              </a:defRPr>
            </a:pPr>
            <a:r>
              <a:t>Empirical requirement gathering methodologies and dual user persona modeling</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4114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4F46E5"/>
                </a:solidFill>
                <a:latin typeface="Inter"/>
              </a:defRPr>
            </a:pPr>
            <a:r>
              <a:t>REQUIREMENT GATHERING TECHNIQUES</a:t>
            </a:r>
          </a:p>
          <a:p>
            <a:pPr>
              <a:spcBef>
                <a:spcPts val="800"/>
              </a:spcBef>
            </a:pPr>
            <a:r>
              <a:rPr b="1" sz="900">
                <a:solidFill>
                  <a:srgbClr val="0F172A"/>
                </a:solidFill>
              </a:rPr>
              <a:t>• Direct Semi-Structured Interviews: </a:t>
            </a:r>
            <a:r>
              <a:rPr sz="900">
                <a:solidFill>
                  <a:srgbClr val="64748B"/>
                </a:solidFill>
              </a:rPr>
              <a:t>Conducted with 8 campus placement officers and corporate recruiters to identify workflow friction points.</a:t>
            </a:r>
          </a:p>
          <a:p>
            <a:pPr>
              <a:spcBef>
                <a:spcPts val="800"/>
              </a:spcBef>
            </a:pPr>
            <a:r>
              <a:rPr b="1" sz="900">
                <a:solidFill>
                  <a:srgbClr val="0F172A"/>
                </a:solidFill>
              </a:rPr>
              <a:t>• Contextual Shadowing (On-Site Working): </a:t>
            </a:r>
            <a:r>
              <a:rPr sz="900">
                <a:solidFill>
                  <a:srgbClr val="64748B"/>
                </a:solidFill>
              </a:rPr>
              <a:t>Observed recruiters live during volume screening rounds; logged average times spent on document switching (over 45 seconds per resume).</a:t>
            </a:r>
          </a:p>
          <a:p>
            <a:pPr>
              <a:spcBef>
                <a:spcPts val="800"/>
              </a:spcBef>
            </a:pPr>
            <a:r>
              <a:rPr b="1" sz="900">
                <a:solidFill>
                  <a:srgbClr val="0F172A"/>
                </a:solidFill>
              </a:rPr>
              <a:t>• Structured Questionnaires: </a:t>
            </a:r>
            <a:r>
              <a:rPr sz="900">
                <a:solidFill>
                  <a:srgbClr val="64748B"/>
                </a:solidFill>
              </a:rPr>
              <a:t>Surveyed 25 hiring stakeholders; 88% highlighted that missing skills were harder to detect than matching skills.</a:t>
            </a:r>
          </a:p>
          <a:p>
            <a:pPr>
              <a:spcBef>
                <a:spcPts val="800"/>
              </a:spcBef>
            </a:pPr>
            <a:r>
              <a:rPr b="1" sz="900">
                <a:solidFill>
                  <a:srgbClr val="0F172A"/>
                </a:solidFill>
              </a:rPr>
              <a:t>• Participative Co-Design: </a:t>
            </a:r>
            <a:r>
              <a:rPr sz="900">
                <a:solidFill>
                  <a:srgbClr val="64748B"/>
                </a:solidFill>
              </a:rPr>
              <a:t>Collaborated with recruiters to sketch ideal side-by-side comparison tables, directly inspiring the CompareCandidates.jsx interface.</a:t>
            </a:r>
          </a:p>
        </p:txBody>
      </p:sp>
      <p:sp>
        <p:nvSpPr>
          <p:cNvPr id="7" name="Rounded Rectangle 6"/>
          <p:cNvSpPr/>
          <p:nvPr/>
        </p:nvSpPr>
        <p:spPr>
          <a:xfrm>
            <a:off x="5029200" y="1463040"/>
            <a:ext cx="6430975"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37160"/>
          <a:lstStyle/>
          <a:p>
            <a:pPr algn="ctr">
              <a:defRPr sz="1000" b="1">
                <a:solidFill>
                  <a:srgbClr val="0F172A"/>
                </a:solidFill>
                <a:latin typeface="Inter"/>
              </a:defRPr>
            </a:pPr>
            <a:r>
              <a:t>PRIMARY PERSONA: PRIYA DESHMUKH (TECHNICAL TALENT RECRUITER)</a:t>
            </a:r>
          </a:p>
          <a:p>
            <a:pPr>
              <a:spcBef>
                <a:spcPts val="400"/>
              </a:spcBef>
              <a:defRPr sz="900">
                <a:solidFill>
                  <a:srgbClr val="334155"/>
                </a:solidFill>
                <a:latin typeface="Inter"/>
              </a:defRPr>
            </a:pPr>
            <a:r>
              <a:t>Context: Screens 150+ applications per day for fast-paced tech roles. Operates under extreme time constraints.</a:t>
            </a:r>
            <a:br/>
            <a:r>
              <a:t>Core Needs: Rapid batch ingestion (drag-and-drop), visual high-level match percentage, instant candidate roster filtering.</a:t>
            </a:r>
            <a:br/>
            <a:r>
              <a:t>Key Frustration: Manually scanning 3-page resumes to find whether a candidate knows React and TypeScript.</a:t>
            </a:r>
            <a:br/>
            <a:r>
              <a:t>Recruvo Feature Fit: Batch upload with live progress, leaderboard analysis table, and green/red skills matrix.</a:t>
            </a:r>
          </a:p>
        </p:txBody>
      </p:sp>
      <p:sp>
        <p:nvSpPr>
          <p:cNvPr id="8" name="Rounded Rectangle 7"/>
          <p:cNvSpPr/>
          <p:nvPr/>
        </p:nvSpPr>
        <p:spPr>
          <a:xfrm>
            <a:off x="5029200" y="3977639"/>
            <a:ext cx="6430975"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37160"/>
          <a:lstStyle/>
          <a:p>
            <a:pPr algn="ctr">
              <a:defRPr sz="1000" b="1">
                <a:solidFill>
                  <a:srgbClr val="4F46E5"/>
                </a:solidFill>
                <a:latin typeface="Inter"/>
              </a:defRPr>
            </a:pPr>
            <a:r>
              <a:t>SECONDARY PERSONA: ARJUN MEHTA (ENGINEERING HIRING MANAGER)</a:t>
            </a:r>
          </a:p>
          <a:p>
            <a:pPr>
              <a:spcBef>
                <a:spcPts val="400"/>
              </a:spcBef>
              <a:defRPr sz="900">
                <a:solidFill>
                  <a:srgbClr val="334155"/>
                </a:solidFill>
                <a:latin typeface="Inter"/>
              </a:defRPr>
            </a:pPr>
            <a:r>
              <a:t>Context: Conducts final-round technical interviews and makes closing hiring decisions between shortlisted finalists.</a:t>
            </a:r>
            <a:br/>
            <a:r>
              <a:t>Core Needs: Direct head-to-head candidate trade-off evaluation, interview question prep probing skill gaps.</a:t>
            </a:r>
            <a:br/>
            <a:r>
              <a:t>Key Frustration: Asking generic interview questions because the candidate's specific resume weaknesses were unknown.</a:t>
            </a:r>
            <a:br/>
            <a:r>
              <a:t>Recruvo Feature Fit: CompareCandidates matrix, tailored interview question generator, and grounded AI assistant.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3 &amp; LAB EXPERIMENT 4 • INFORMATION ARCHITECTURE</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Information Architecture (IA) &amp; Card Sorting Methodology</a:t>
            </a:r>
          </a:p>
          <a:p>
            <a:pPr>
              <a:spcBef>
                <a:spcPts val="300"/>
              </a:spcBef>
              <a:defRPr sz="1100">
                <a:solidFill>
                  <a:srgbClr val="64748B"/>
                </a:solidFill>
                <a:latin typeface="Inter"/>
              </a:defRPr>
            </a:pPr>
            <a:r>
              <a:t>Synthesizing 35+ candidate evaluation data points into a cohesive 5-pillar structure</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36576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4F46E5"/>
                </a:solidFill>
                <a:latin typeface="Inter"/>
              </a:defRPr>
            </a:pPr>
            <a:r>
              <a:t>CARD SORTING METHODOLOGY</a:t>
            </a:r>
          </a:p>
          <a:p>
            <a:pPr>
              <a:spcBef>
                <a:spcPts val="800"/>
              </a:spcBef>
            </a:pPr>
            <a:r>
              <a:rPr b="1" sz="900">
                <a:solidFill>
                  <a:srgbClr val="0F172A"/>
                </a:solidFill>
              </a:rPr>
              <a:t>• Open Card Sorting: </a:t>
            </a:r>
            <a:r>
              <a:rPr sz="900">
                <a:solidFill>
                  <a:srgbClr val="64748B"/>
                </a:solidFill>
              </a:rPr>
              <a:t>Participants grouped 35 raw resume and JD data points (GPA, past titles, tools, certifications, gap reasons) into unconstrained clusters.</a:t>
            </a:r>
          </a:p>
          <a:p>
            <a:pPr>
              <a:spcBef>
                <a:spcPts val="800"/>
              </a:spcBef>
            </a:pPr>
            <a:r>
              <a:rPr b="1" sz="900">
                <a:solidFill>
                  <a:srgbClr val="0F172A"/>
                </a:solidFill>
              </a:rPr>
              <a:t>• Closed Card Sorting: </a:t>
            </a:r>
            <a:r>
              <a:rPr sz="900">
                <a:solidFill>
                  <a:srgbClr val="64748B"/>
                </a:solidFill>
              </a:rPr>
              <a:t>Tested candidate groupings against 5 predefined thematic buckets to validate cognitive intuitiveness and eliminate ambiguity.</a:t>
            </a:r>
          </a:p>
          <a:p>
            <a:pPr>
              <a:spcBef>
                <a:spcPts val="800"/>
              </a:spcBef>
            </a:pPr>
            <a:r>
              <a:rPr b="1" sz="900">
                <a:solidFill>
                  <a:srgbClr val="0F172A"/>
                </a:solidFill>
              </a:rPr>
              <a:t>• Key Discovery: </a:t>
            </a:r>
            <a:r>
              <a:rPr sz="900">
                <a:solidFill>
                  <a:srgbClr val="64748B"/>
                </a:solidFill>
              </a:rPr>
              <a:t>Recruiters strongly preferred separating verified matching skills from flagged missing competencies, leading to the dual-chip matrix design.</a:t>
            </a:r>
          </a:p>
          <a:p>
            <a:pPr>
              <a:spcBef>
                <a:spcPts val="800"/>
              </a:spcBef>
            </a:pPr>
            <a:r>
              <a:rPr b="1" sz="900">
                <a:solidFill>
                  <a:srgbClr val="0F172A"/>
                </a:solidFill>
              </a:rPr>
              <a:t>• Navigation Depth Rule: </a:t>
            </a:r>
            <a:r>
              <a:rPr sz="900">
                <a:solidFill>
                  <a:srgbClr val="64748B"/>
                </a:solidFill>
              </a:rPr>
              <a:t>Adopted a flat Information Architecture where any candidate profile or comparison is reachable within a maximum of 2 clicks from anywhere.</a:t>
            </a:r>
          </a:p>
        </p:txBody>
      </p:sp>
      <p:sp>
        <p:nvSpPr>
          <p:cNvPr id="7" name="Rounded Rectangle 6"/>
          <p:cNvSpPr/>
          <p:nvPr/>
        </p:nvSpPr>
        <p:spPr>
          <a:xfrm>
            <a:off x="4572000" y="1463040"/>
            <a:ext cx="688817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0F172A"/>
                </a:solidFill>
                <a:latin typeface="Inter"/>
              </a:defRPr>
            </a:pPr>
            <a:r>
              <a:t>THE RESULTING 5-PILLAR CANDIDATE MENTAL MODEL</a:t>
            </a:r>
          </a:p>
          <a:p>
            <a:pPr>
              <a:spcBef>
                <a:spcPts val="700"/>
              </a:spcBef>
            </a:pPr>
            <a:r>
              <a:rPr b="1" sz="950">
                <a:solidFill>
                  <a:srgbClr val="4F46E5"/>
                </a:solidFill>
              </a:rPr>
              <a:t>✦ 1. Executive Overview: </a:t>
            </a:r>
            <a:r>
              <a:rPr sz="900">
                <a:solidFill>
                  <a:srgbClr val="334155"/>
                </a:solidFill>
              </a:rPr>
              <a:t>Radial overall match gauge (0-100%), verified contact info, AI executive summary paragraph, and instant hiring recommendation pill.</a:t>
            </a:r>
          </a:p>
          <a:p>
            <a:pPr>
              <a:spcBef>
                <a:spcPts val="700"/>
              </a:spcBef>
            </a:pPr>
            <a:r>
              <a:rPr b="1" sz="950">
                <a:solidFill>
                  <a:srgbClr val="4F46E5"/>
                </a:solidFill>
              </a:rPr>
              <a:t>✦ 2. Skills Matrix: </a:t>
            </a:r>
            <a:r>
              <a:rPr sz="900">
                <a:solidFill>
                  <a:srgbClr val="334155"/>
                </a:solidFill>
              </a:rPr>
              <a:t>Side-by-side comparison of verified candidate competencies vs JD required skills, visual green check badges for matches and red warning chips for gaps.</a:t>
            </a:r>
          </a:p>
          <a:p>
            <a:pPr>
              <a:spcBef>
                <a:spcPts val="700"/>
              </a:spcBef>
            </a:pPr>
            <a:r>
              <a:rPr b="1" sz="950">
                <a:solidFill>
                  <a:srgbClr val="4F46E5"/>
                </a:solidFill>
              </a:rPr>
              <a:t>✦ 3. Work Experience: </a:t>
            </a:r>
            <a:r>
              <a:rPr sz="900">
                <a:solidFill>
                  <a:srgbClr val="334155"/>
                </a:solidFill>
              </a:rPr>
              <a:t>Chronological experience timeline with calculated duration, job titles, hiring company names, and bulleted responsibility breakdowns.</a:t>
            </a:r>
          </a:p>
          <a:p>
            <a:pPr>
              <a:spcBef>
                <a:spcPts val="700"/>
              </a:spcBef>
            </a:pPr>
            <a:r>
              <a:rPr b="1" sz="950">
                <a:solidFill>
                  <a:srgbClr val="4F46E5"/>
                </a:solidFill>
              </a:rPr>
              <a:t>✦ 4. Education &amp; Projects: </a:t>
            </a:r>
            <a:r>
              <a:rPr sz="900">
                <a:solidFill>
                  <a:srgbClr val="334155"/>
                </a:solidFill>
              </a:rPr>
              <a:t>Academic degree credentials, institutions, graduation dates, and highlighted portfolio project descriptions with tech stack tags.</a:t>
            </a:r>
          </a:p>
          <a:p>
            <a:pPr>
              <a:spcBef>
                <a:spcPts val="700"/>
              </a:spcBef>
            </a:pPr>
            <a:r>
              <a:rPr b="1" sz="950">
                <a:solidFill>
                  <a:srgbClr val="4F46E5"/>
                </a:solidFill>
              </a:rPr>
              <a:t>✦ 5. Recommendations &amp; Prep: </a:t>
            </a:r>
            <a:r>
              <a:rPr sz="900">
                <a:solidFill>
                  <a:srgbClr val="334155"/>
                </a:solidFill>
              </a:rPr>
              <a:t>Actionable recruiter evaluation notes, identified candidate risk tradeoffs, and 5 tailored technical &amp; behavioral interview questions.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2 • HUMAN COMPUTER INTERACTION &amp; USABILITY</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Human-Computer Interaction (HCI) Principles in Recruvo</a:t>
            </a:r>
          </a:p>
          <a:p>
            <a:pPr>
              <a:spcBef>
                <a:spcPts val="300"/>
              </a:spcBef>
              <a:defRPr sz="1100">
                <a:solidFill>
                  <a:srgbClr val="64748B"/>
                </a:solidFill>
                <a:latin typeface="Inter"/>
              </a:defRPr>
            </a:pPr>
            <a:r>
              <a:t>Applying foundational psychological laws and human factor principles to UI design</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4F46E5"/>
                </a:solidFill>
                <a:latin typeface="Inter"/>
              </a:defRPr>
            </a:pPr>
            <a:r>
              <a:t>COGNITIVE LOAD &amp; MILLER'S LAW (7±2 CHUNKING)</a:t>
            </a:r>
          </a:p>
          <a:p>
            <a:pPr>
              <a:spcBef>
                <a:spcPts val="400"/>
              </a:spcBef>
              <a:defRPr sz="850">
                <a:solidFill>
                  <a:srgbClr val="334155"/>
                </a:solidFill>
                <a:latin typeface="Inter"/>
              </a:defRPr>
            </a:pPr>
            <a:r>
              <a:t>HCI Law: Human working memory is strictly limited to 7±2 discrete chunks.</a:t>
            </a:r>
            <a:br/>
            <a:r>
              <a:t>Recruvo UI Application:</a:t>
            </a:r>
            <a:br/>
            <a:r>
              <a:t>• Deconstructs complex resume text into 5 distinct thematic tabs in CandidateAnalysis.jsx.</a:t>
            </a:r>
            <a:br/>
            <a:r>
              <a:t>• Groups dashboard analytics into 4 scannable metric cards (Jobs, Resumes, Screenings, Reports).</a:t>
            </a:r>
            <a:br/>
            <a:r>
              <a:t>• Restricts conversational AI responses to scannable bullet points and structured headings.</a:t>
            </a:r>
          </a:p>
        </p:txBody>
      </p:sp>
      <p:sp>
        <p:nvSpPr>
          <p:cNvPr id="7" name="Rounded Rectangle 6"/>
          <p:cNvSpPr/>
          <p:nvPr/>
        </p:nvSpPr>
        <p:spPr>
          <a:xfrm>
            <a:off x="62179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0F172A"/>
                </a:solidFill>
                <a:latin typeface="Inter"/>
              </a:defRPr>
            </a:pPr>
            <a:r>
              <a:t>HICK-HYMAN LAW (DECISION TIME REDUCTION)</a:t>
            </a:r>
          </a:p>
          <a:p>
            <a:pPr>
              <a:spcBef>
                <a:spcPts val="400"/>
              </a:spcBef>
              <a:defRPr sz="850">
                <a:solidFill>
                  <a:srgbClr val="334155"/>
                </a:solidFill>
                <a:latin typeface="Inter"/>
              </a:defRPr>
            </a:pPr>
            <a:r>
              <a:t>HCI Law: Time to make a decision increases logarithmically with the number of choices.</a:t>
            </a:r>
            <a:br/>
            <a:r>
              <a:t>Recruvo UI Application:</a:t>
            </a:r>
            <a:br/>
            <a:r>
              <a:t>• Primary navigation restricted to 8 unambiguous, action-oriented verbs.</a:t>
            </a:r>
            <a:br/>
            <a:r>
              <a:t>• Active Job Selector acts as a global persistent anchor, eliminating repetitive dropdown selections.</a:t>
            </a:r>
            <a:br/>
            <a:r>
              <a:t>• One-click batch screening trigger ('Screen All Candidates') eliminates 10+ manual clicks.</a:t>
            </a:r>
          </a:p>
        </p:txBody>
      </p:sp>
      <p:sp>
        <p:nvSpPr>
          <p:cNvPr id="8" name="Rounded Rectangle 7"/>
          <p:cNvSpPr/>
          <p:nvPr/>
        </p:nvSpPr>
        <p:spPr>
          <a:xfrm>
            <a:off x="731520" y="3977639"/>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059669"/>
                </a:solidFill>
                <a:latin typeface="Inter"/>
              </a:defRPr>
            </a:pPr>
            <a:r>
              <a:t>FITTS'S LAW (TARGET ACQUISITION SPEED)</a:t>
            </a:r>
          </a:p>
          <a:p>
            <a:pPr>
              <a:spcBef>
                <a:spcPts val="400"/>
              </a:spcBef>
              <a:defRPr sz="850">
                <a:solidFill>
                  <a:srgbClr val="334155"/>
                </a:solidFill>
                <a:latin typeface="Inter"/>
              </a:defRPr>
            </a:pPr>
            <a:r>
              <a:t>HCI Law: Acquisition time is a function of target distance and target width.</a:t>
            </a:r>
            <a:br/>
            <a:r>
              <a:t>Recruvo UI Application:</a:t>
            </a:r>
            <a:br/>
            <a:r>
              <a:t>• Primary Call-to-Action (CTA) buttons feature generous padding (0.625rem x 1rem) and minimum 44px height.</a:t>
            </a:r>
            <a:br/>
            <a:r>
              <a:t>• Global Command Palette (Ctrl+K) provides zero-distance keyboard navigation.</a:t>
            </a:r>
            <a:br/>
            <a:r>
              <a:t>• Large file dropzone (UploadJD / UploadResumes) spans the full viewport container.</a:t>
            </a:r>
          </a:p>
        </p:txBody>
      </p:sp>
      <p:sp>
        <p:nvSpPr>
          <p:cNvPr id="9" name="Rounded Rectangle 8"/>
          <p:cNvSpPr/>
          <p:nvPr/>
        </p:nvSpPr>
        <p:spPr>
          <a:xfrm>
            <a:off x="6217920" y="3977639"/>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F59E0B"/>
                </a:solidFill>
                <a:latin typeface="Inter"/>
              </a:defRPr>
            </a:pPr>
            <a:r>
              <a:t>SYSTEM TIMINGS &amp; PERCEIVED PERFORMANCE</a:t>
            </a:r>
          </a:p>
          <a:p>
            <a:pPr>
              <a:spcBef>
                <a:spcPts val="400"/>
              </a:spcBef>
              <a:defRPr sz="850">
                <a:solidFill>
                  <a:srgbClr val="334155"/>
                </a:solidFill>
                <a:latin typeface="Inter"/>
              </a:defRPr>
            </a:pPr>
            <a:r>
              <a:t>HCI Law: Feedback delay exceeding 1.0s induces user anxiety and cognitive friction.</a:t>
            </a:r>
            <a:br/>
            <a:r>
              <a:t>Recruvo UI Application:</a:t>
            </a:r>
            <a:br/>
            <a:r>
              <a:t>• Skeletal shimmer placeholders (Skeleton.jsx) replace jarring empty blank states.</a:t>
            </a:r>
            <a:br/>
            <a:r>
              <a:t>• Live progress bars display instantaneous percentage feedback during multi-file parsing.</a:t>
            </a:r>
            <a:br/>
            <a:r>
              <a:t>• Non-blocking asynchronous job queues keep UI responsive during background Gemini AI screening.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2 • STRUCTURES, FUNCTIONS &amp; FORMATTING OF MENUS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Navigation Hierarchy, Menu Structures &amp; Phrasing</a:t>
            </a:r>
          </a:p>
          <a:p>
            <a:pPr>
              <a:spcBef>
                <a:spcPts val="300"/>
              </a:spcBef>
              <a:defRPr sz="1100">
                <a:solidFill>
                  <a:srgbClr val="64748B"/>
                </a:solidFill>
                <a:latin typeface="Inter"/>
              </a:defRPr>
            </a:pPr>
            <a:r>
              <a:t>Designing clear mental navigation models and contextual anchors (AppShell.jsx)</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4114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4F46E5"/>
                </a:solidFill>
                <a:latin typeface="Inter"/>
              </a:defRPr>
            </a:pPr>
            <a:r>
              <a:t>MENU STRUCTURE SPECIFICATIONS</a:t>
            </a:r>
          </a:p>
          <a:p>
            <a:pPr>
              <a:spcBef>
                <a:spcPts val="800"/>
              </a:spcBef>
            </a:pPr>
            <a:r>
              <a:rPr b="1" sz="900">
                <a:solidFill>
                  <a:srgbClr val="0F172A"/>
                </a:solidFill>
              </a:rPr>
              <a:t>• Menu Architecture: </a:t>
            </a:r>
            <a:r>
              <a:rPr sz="900">
                <a:solidFill>
                  <a:srgbClr val="64748B"/>
                </a:solidFill>
              </a:rPr>
              <a:t>Single-tier vertical sidebar navigation (AppShell.jsx) with high persistent visual affordance across all desktop viewports.</a:t>
            </a:r>
          </a:p>
          <a:p>
            <a:pPr>
              <a:spcBef>
                <a:spcPts val="800"/>
              </a:spcBef>
            </a:pPr>
            <a:r>
              <a:rPr b="1" sz="900">
                <a:solidFill>
                  <a:srgbClr val="0F172A"/>
                </a:solidFill>
              </a:rPr>
              <a:t>• Action Phrasing: </a:t>
            </a:r>
            <a:r>
              <a:rPr sz="900">
                <a:solidFill>
                  <a:srgbClr val="64748B"/>
                </a:solidFill>
              </a:rPr>
              <a:t>Menu items use explicit, task-oriented verb phrases ('Upload JD', 'Upload Resumes', 'Compare', 'Export') rather than ambiguous system terms.</a:t>
            </a:r>
          </a:p>
          <a:p>
            <a:pPr>
              <a:spcBef>
                <a:spcPts val="800"/>
              </a:spcBef>
            </a:pPr>
            <a:r>
              <a:rPr b="1" sz="900">
                <a:solidFill>
                  <a:srgbClr val="0F172A"/>
                </a:solidFill>
              </a:rPr>
              <a:t>• Visual Status Anchors: </a:t>
            </a:r>
            <a:r>
              <a:rPr sz="900">
                <a:solidFill>
                  <a:srgbClr val="64748B"/>
                </a:solidFill>
              </a:rPr>
              <a:t>Active routes highlight with high-contrast slate-900 fill and white bold text, accompanied by Lucide SVG icon badges.</a:t>
            </a:r>
          </a:p>
          <a:p>
            <a:pPr>
              <a:spcBef>
                <a:spcPts val="800"/>
              </a:spcBef>
            </a:pPr>
            <a:r>
              <a:rPr b="1" sz="900">
                <a:solidFill>
                  <a:srgbClr val="0F172A"/>
                </a:solidFill>
              </a:rPr>
              <a:t>• Safe Route Fallbacks: </a:t>
            </a:r>
            <a:r>
              <a:rPr sz="900">
                <a:solidFill>
                  <a:srgbClr val="64748B"/>
                </a:solidFill>
              </a:rPr>
              <a:t>Legacy and malformed routes (e.g. /jobs, /candidates) automatically redirect to canonical routes via React Router, preventing 404 errors.</a:t>
            </a:r>
          </a:p>
        </p:txBody>
      </p:sp>
      <p:sp>
        <p:nvSpPr>
          <p:cNvPr id="7" name="Rounded Rectangle 6"/>
          <p:cNvSpPr/>
          <p:nvPr/>
        </p:nvSpPr>
        <p:spPr>
          <a:xfrm>
            <a:off x="5029200" y="1463040"/>
            <a:ext cx="643097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0F172A"/>
                </a:solidFill>
                <a:latin typeface="Inter"/>
              </a:defRPr>
            </a:pPr>
            <a:r>
              <a:t>1. PERSISTENT APPSHELL SIDEBAR (AppShell.jsx)</a:t>
            </a:r>
          </a:p>
          <a:p>
            <a:pPr>
              <a:spcBef>
                <a:spcPts val="300"/>
              </a:spcBef>
              <a:defRPr sz="850">
                <a:solidFill>
                  <a:srgbClr val="64748B"/>
                </a:solidFill>
                <a:latin typeface="Inter"/>
              </a:defRPr>
            </a:pPr>
            <a:r>
              <a:t>Features brand header, 8 primary navigation links, active job contextual dropdown, and recruiter workspace status badge. Collapses into off-canvas drawer on mobile.</a:t>
            </a:r>
          </a:p>
        </p:txBody>
      </p:sp>
      <p:sp>
        <p:nvSpPr>
          <p:cNvPr id="8" name="Rounded Rectangle 7"/>
          <p:cNvSpPr/>
          <p:nvPr/>
        </p:nvSpPr>
        <p:spPr>
          <a:xfrm>
            <a:off x="5029200" y="3063240"/>
            <a:ext cx="643097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0F172A"/>
                </a:solidFill>
                <a:latin typeface="Inter"/>
              </a:defRPr>
            </a:pPr>
            <a:r>
              <a:t>2. GLOBAL ACTIVE JOB SELECTOR (RecruvoContext.jsx)</a:t>
            </a:r>
          </a:p>
          <a:p>
            <a:pPr>
              <a:spcBef>
                <a:spcPts val="300"/>
              </a:spcBef>
              <a:defRPr sz="850">
                <a:solidFill>
                  <a:srgbClr val="64748B"/>
                </a:solidFill>
                <a:latin typeface="Inter"/>
              </a:defRPr>
            </a:pPr>
            <a:r>
              <a:t>Persists currently selected Job Description in LocalStorage. Ensures that navigating between Upload, Analysis, Compare, and Export never loses target job context.</a:t>
            </a:r>
          </a:p>
        </p:txBody>
      </p:sp>
      <p:sp>
        <p:nvSpPr>
          <p:cNvPr id="9" name="Rounded Rectangle 8"/>
          <p:cNvSpPr/>
          <p:nvPr/>
        </p:nvSpPr>
        <p:spPr>
          <a:xfrm>
            <a:off x="5029200" y="4663440"/>
            <a:ext cx="6430975"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0F172A"/>
                </a:solidFill>
                <a:latin typeface="Inter"/>
              </a:defRPr>
            </a:pPr>
            <a:r>
              <a:t>3. KEYBOARD COMMAND PALETTE (CommandPalette.jsx)</a:t>
            </a:r>
          </a:p>
          <a:p>
            <a:pPr>
              <a:spcBef>
                <a:spcPts val="300"/>
              </a:spcBef>
              <a:defRPr sz="850">
                <a:solidFill>
                  <a:srgbClr val="64748B"/>
                </a:solidFill>
                <a:latin typeface="Inter"/>
              </a:defRPr>
            </a:pPr>
            <a:r>
              <a:t>Invoked instantly via Ctrl+K / Cmd+K. Enables power recruiters to search candidates, jump directly to analysis pages, and trigger batch screening without mouse interaction.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1 &amp; 4 • AESTHETICS, DESIGN FOR PLEASURE &amp; TOKENS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Visual Hierarchy, Bento-Grid Layout &amp; Design System</a:t>
            </a:r>
          </a:p>
          <a:p>
            <a:pPr>
              <a:spcBef>
                <a:spcPts val="300"/>
              </a:spcBef>
              <a:defRPr sz="1100">
                <a:solidFill>
                  <a:srgbClr val="64748B"/>
                </a:solidFill>
                <a:latin typeface="Inter"/>
              </a:defRPr>
            </a:pPr>
            <a:r>
              <a:t>Establishing a unified visual language through modular tokens (index.css &amp; BentoCard.jsx)</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82880"/>
          <a:lstStyle/>
          <a:p>
            <a:pPr algn="ctr">
              <a:defRPr sz="1100" b="1">
                <a:solidFill>
                  <a:srgbClr val="4F46E5"/>
                </a:solidFill>
                <a:latin typeface="Inter"/>
              </a:defRPr>
            </a:pPr>
            <a:r>
              <a:t>TYPOGRAPHY &amp; READABILITY</a:t>
            </a:r>
          </a:p>
          <a:p>
            <a:pPr>
              <a:spcBef>
                <a:spcPts val="800"/>
              </a:spcBef>
            </a:pPr>
            <a:r>
              <a:rPr b="1" sz="900">
                <a:solidFill>
                  <a:srgbClr val="0F172A"/>
                </a:solidFill>
              </a:rPr>
              <a:t>• Display Headings: </a:t>
            </a:r>
            <a:r>
              <a:rPr sz="900">
                <a:solidFill>
                  <a:srgbClr val="64748B"/>
                </a:solidFill>
              </a:rPr>
              <a:t>Plus Jakarta Sans provides geometric authority and contemporary structure for page headers and modal titles.</a:t>
            </a:r>
          </a:p>
          <a:p>
            <a:pPr>
              <a:spcBef>
                <a:spcPts val="800"/>
              </a:spcBef>
            </a:pPr>
            <a:r>
              <a:rPr b="1" sz="900">
                <a:solidFill>
                  <a:srgbClr val="0F172A"/>
                </a:solidFill>
              </a:rPr>
              <a:t>• Body &amp; Dense Tables: </a:t>
            </a:r>
            <a:r>
              <a:rPr sz="900">
                <a:solidFill>
                  <a:srgbClr val="64748B"/>
                </a:solidFill>
              </a:rPr>
              <a:t>Inter variable font delivers maximum legibility at small optical sizes (11px - 14px) in dense resume data tables.</a:t>
            </a:r>
          </a:p>
          <a:p>
            <a:pPr>
              <a:spcBef>
                <a:spcPts val="800"/>
              </a:spcBef>
            </a:pPr>
            <a:r>
              <a:rPr b="1" sz="900">
                <a:solidFill>
                  <a:srgbClr val="0F172A"/>
                </a:solidFill>
              </a:rPr>
              <a:t>• Metrics &amp; Data Codes: </a:t>
            </a:r>
            <a:r>
              <a:rPr sz="900">
                <a:solidFill>
                  <a:srgbClr val="64748B"/>
                </a:solidFill>
              </a:rPr>
              <a:t>JetBrains Mono renders match percentages, candidate IDs, and system timestamps with monospace precision.</a:t>
            </a:r>
          </a:p>
          <a:p>
            <a:pPr>
              <a:spcBef>
                <a:spcPts val="800"/>
              </a:spcBef>
            </a:pPr>
            <a:r>
              <a:rPr b="1" sz="900">
                <a:solidFill>
                  <a:srgbClr val="0F172A"/>
                </a:solidFill>
              </a:rPr>
              <a:t>• Typographic Hierarchy: </a:t>
            </a:r>
            <a:r>
              <a:rPr sz="900">
                <a:solidFill>
                  <a:srgbClr val="64748B"/>
                </a:solidFill>
              </a:rPr>
              <a:t>Standardized 5-tier scale from H1 (24px/bold) down to micro-tags (10px uppercase tracking-wider).</a:t>
            </a:r>
          </a:p>
        </p:txBody>
      </p:sp>
      <p:sp>
        <p:nvSpPr>
          <p:cNvPr id="7" name="Rounded Rectangle 6"/>
          <p:cNvSpPr/>
          <p:nvPr/>
        </p:nvSpPr>
        <p:spPr>
          <a:xfrm>
            <a:off x="4297680" y="1463040"/>
            <a:ext cx="36576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82880"/>
          <a:lstStyle/>
          <a:p>
            <a:pPr algn="ctr">
              <a:defRPr sz="1100" b="1">
                <a:solidFill>
                  <a:srgbClr val="0F172A"/>
                </a:solidFill>
                <a:latin typeface="Inter"/>
              </a:defRPr>
            </a:pPr>
            <a:r>
              <a:t>BENTO-GRID MODULAR CARDS</a:t>
            </a:r>
          </a:p>
          <a:p>
            <a:pPr>
              <a:spcBef>
                <a:spcPts val="800"/>
              </a:spcBef>
            </a:pPr>
            <a:r>
              <a:rPr b="1" sz="900">
                <a:solidFill>
                  <a:srgbClr val="4F46E5"/>
                </a:solidFill>
              </a:rPr>
              <a:t>✦ BentoCard Architecture: </a:t>
            </a:r>
            <a:r>
              <a:rPr sz="900">
                <a:solidFill>
                  <a:srgbClr val="64748B"/>
                </a:solidFill>
              </a:rPr>
              <a:t>Standardized UI container component (BentoCard.jsx) featuring crisp white surface (#FFFFFF), 1rem rounded radius, and subtle border (#E2E8F0).</a:t>
            </a:r>
          </a:p>
          <a:p>
            <a:pPr>
              <a:spcBef>
                <a:spcPts val="800"/>
              </a:spcBef>
            </a:pPr>
            <a:r>
              <a:rPr b="1" sz="900">
                <a:solidFill>
                  <a:srgbClr val="4F46E5"/>
                </a:solidFill>
              </a:rPr>
              <a:t>✦ Gestalt Grouping: </a:t>
            </a:r>
            <a:r>
              <a:rPr sz="900">
                <a:solidFill>
                  <a:srgbClr val="64748B"/>
                </a:solidFill>
              </a:rPr>
              <a:t>Principles of Proximity and Common Region group related candidate attributes into self-contained visual cards.</a:t>
            </a:r>
          </a:p>
          <a:p>
            <a:pPr>
              <a:spcBef>
                <a:spcPts val="800"/>
              </a:spcBef>
            </a:pPr>
            <a:r>
              <a:rPr b="1" sz="900">
                <a:solidFill>
                  <a:srgbClr val="4F46E5"/>
                </a:solidFill>
              </a:rPr>
              <a:t>✦ Micro-Elevations: </a:t>
            </a:r>
            <a:r>
              <a:rPr sz="900">
                <a:solidFill>
                  <a:srgbClr val="64748B"/>
                </a:solidFill>
              </a:rPr>
              <a:t>Gentle hover transitions (translateY(-1px) with box-shadow) signal interactivity without causing visual agitation.</a:t>
            </a:r>
          </a:p>
          <a:p>
            <a:pPr>
              <a:spcBef>
                <a:spcPts val="800"/>
              </a:spcBef>
            </a:pPr>
            <a:r>
              <a:rPr b="1" sz="900">
                <a:solidFill>
                  <a:srgbClr val="4F46E5"/>
                </a:solidFill>
              </a:rPr>
              <a:t>✦ Consistent Padding Scale: </a:t>
            </a:r>
            <a:r>
              <a:rPr sz="900">
                <a:solidFill>
                  <a:srgbClr val="64748B"/>
                </a:solidFill>
              </a:rPr>
              <a:t>Strict 1.5rem / 2rem padding rhythm enforces balanced negative space across all device viewports.</a:t>
            </a:r>
          </a:p>
        </p:txBody>
      </p:sp>
      <p:sp>
        <p:nvSpPr>
          <p:cNvPr id="8" name="Rounded Rectangle 7"/>
          <p:cNvSpPr/>
          <p:nvPr/>
        </p:nvSpPr>
        <p:spPr>
          <a:xfrm>
            <a:off x="8183879" y="1463040"/>
            <a:ext cx="3273552"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82880"/>
          <a:lstStyle/>
          <a:p>
            <a:pPr algn="ctr">
              <a:defRPr sz="1100" b="1">
                <a:solidFill>
                  <a:srgbClr val="059669"/>
                </a:solidFill>
                <a:latin typeface="Inter"/>
              </a:defRPr>
            </a:pPr>
            <a:r>
              <a:t>COLOR THEORY &amp; ACCESSIBILITY</a:t>
            </a:r>
          </a:p>
          <a:p>
            <a:pPr>
              <a:spcBef>
                <a:spcPts val="800"/>
              </a:spcBef>
            </a:pPr>
            <a:r>
              <a:rPr b="1" sz="900">
                <a:solidFill>
                  <a:srgbClr val="0F172A"/>
                </a:solidFill>
              </a:rPr>
              <a:t>✓ Curated Palette: </a:t>
            </a:r>
            <a:r>
              <a:rPr sz="900">
                <a:solidFill>
                  <a:srgbClr val="64748B"/>
                </a:solidFill>
              </a:rPr>
              <a:t>Slate neutrals (#F8FAFC app background, #0F172A primary text) paired with Deep Indigo (#4F46E5) focus accents.</a:t>
            </a:r>
          </a:p>
          <a:p>
            <a:pPr>
              <a:spcBef>
                <a:spcPts val="800"/>
              </a:spcBef>
            </a:pPr>
            <a:r>
              <a:rPr b="1" sz="900">
                <a:solidFill>
                  <a:srgbClr val="0F172A"/>
                </a:solidFill>
              </a:rPr>
              <a:t>✓ WCAG AA Compliance: </a:t>
            </a:r>
            <a:r>
              <a:rPr sz="900">
                <a:solidFill>
                  <a:srgbClr val="64748B"/>
                </a:solidFill>
              </a:rPr>
              <a:t>All text tokens exceed the 4.5:1 contrast threshold against their respective card surfaces.</a:t>
            </a:r>
          </a:p>
          <a:p>
            <a:pPr>
              <a:spcBef>
                <a:spcPts val="800"/>
              </a:spcBef>
            </a:pPr>
            <a:r>
              <a:rPr b="1" sz="900">
                <a:solidFill>
                  <a:srgbClr val="0F172A"/>
                </a:solidFill>
              </a:rPr>
              <a:t>✓ Semantic Status Colors: </a:t>
            </a:r>
            <a:r>
              <a:rPr sz="900">
                <a:solidFill>
                  <a:srgbClr val="64748B"/>
                </a:solidFill>
              </a:rPr>
              <a:t>Emerald (#059669) for verified match &gt;=80%, Amber (#D97706) for partial match, and Rose (#E11D48) for critical missing skills.</a:t>
            </a:r>
          </a:p>
          <a:p>
            <a:pPr>
              <a:spcBef>
                <a:spcPts val="800"/>
              </a:spcBef>
            </a:pPr>
            <a:r>
              <a:rPr b="1" sz="900">
                <a:solidFill>
                  <a:srgbClr val="0F172A"/>
                </a:solidFill>
              </a:rPr>
              <a:t>✓ No Reliance on Color Alone: </a:t>
            </a:r>
            <a:r>
              <a:rPr sz="900">
                <a:solidFill>
                  <a:srgbClr val="64748B"/>
                </a:solidFill>
              </a:rPr>
              <a:t>All status indicators combine color with iconography (CheckCircle2, AlertTriangle, XCircle) for color-blind accessibility.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1 &amp; 4 • DIGITAL IMAGING, RESOLUTION &amp; PIXEL GRAPHICS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Visual Communication: Radial Gauges &amp; Multi-Factor Matrix</a:t>
            </a:r>
          </a:p>
          <a:p>
            <a:pPr>
              <a:spcBef>
                <a:spcPts val="300"/>
              </a:spcBef>
              <a:defRPr sz="1100">
                <a:solidFill>
                  <a:srgbClr val="64748B"/>
                </a:solidFill>
                <a:latin typeface="Inter"/>
              </a:defRPr>
            </a:pPr>
            <a:r>
              <a:t>High-fidelity SVG data visualization and multi-dimensional match score representation</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4F46E5"/>
                </a:solidFill>
                <a:latin typeface="Inter"/>
              </a:defRPr>
            </a:pPr>
            <a:r>
              <a:t>RADIAL SVG SCORE INDICATOR (ScoreIndicator.jsx)</a:t>
            </a:r>
          </a:p>
          <a:p>
            <a:pPr>
              <a:spcBef>
                <a:spcPts val="800"/>
              </a:spcBef>
            </a:pPr>
            <a:r>
              <a:rPr b="1" sz="900">
                <a:solidFill>
                  <a:srgbClr val="0F172A"/>
                </a:solidFill>
              </a:rPr>
              <a:t>• Mathematical SVG Geometry: </a:t>
            </a:r>
            <a:r>
              <a:rPr sz="850">
                <a:solidFill>
                  <a:srgbClr val="64748B"/>
                </a:solidFill>
              </a:rPr>
              <a:t>Constructed using dynamic SVG circle elements with strokeDasharray and strokeDashoffset calculated from circumference (2 * π * r).</a:t>
            </a:r>
          </a:p>
          <a:p>
            <a:pPr>
              <a:spcBef>
                <a:spcPts val="800"/>
              </a:spcBef>
            </a:pPr>
            <a:r>
              <a:rPr b="1" sz="900">
                <a:solidFill>
                  <a:srgbClr val="0F172A"/>
                </a:solidFill>
              </a:rPr>
              <a:t>• Resolution-Independent Rendering: </a:t>
            </a:r>
            <a:r>
              <a:rPr sz="850">
                <a:solidFill>
                  <a:srgbClr val="64748B"/>
                </a:solidFill>
              </a:rPr>
              <a:t>Scales smoothly across all DPI screen densities (Module 6 outcome) without pixelation or visual blur.</a:t>
            </a:r>
          </a:p>
          <a:p>
            <a:pPr>
              <a:spcBef>
                <a:spcPts val="800"/>
              </a:spcBef>
            </a:pPr>
            <a:r>
              <a:rPr b="1" sz="900">
                <a:solidFill>
                  <a:srgbClr val="0F172A"/>
                </a:solidFill>
              </a:rPr>
              <a:t>• 4-Tier Dynamic Color Thresholding:
</a:t>
            </a:r>
            <a:r>
              <a:rPr sz="850">
                <a:solidFill>
                  <a:srgbClr val="64748B"/>
                </a:solidFill>
              </a:rPr>
              <a:t>  • ≥ 80%: Emerald Stroke (#059669) — High Qualification Fit
  • ≥ 60%: Indigo Stroke (#4F46E5) — Strong Potential Match
  • ≥ 40%: Amber Stroke (#D97706) — Partial Match / Gaps
  • &lt; 40%: Rose Stroke (#E11D48) — Significant Requisite Gap</a:t>
            </a:r>
          </a:p>
          <a:p>
            <a:pPr>
              <a:spcBef>
                <a:spcPts val="800"/>
              </a:spcBef>
            </a:pPr>
            <a:r>
              <a:rPr b="1" sz="900">
                <a:solidFill>
                  <a:srgbClr val="0F172A"/>
                </a:solidFill>
              </a:rPr>
              <a:t>• Dual Display Modes: </a:t>
            </a:r>
            <a:r>
              <a:rPr sz="850">
                <a:solidFill>
                  <a:srgbClr val="64748B"/>
                </a:solidFill>
              </a:rPr>
              <a:t>Full circular radial ring for detailed candidate deep-dives; compact horizontal progress bar for high-density tabular listings.</a:t>
            </a:r>
          </a:p>
        </p:txBody>
      </p:sp>
      <p:sp>
        <p:nvSpPr>
          <p:cNvPr id="7" name="Rounded Rectangle 6"/>
          <p:cNvSpPr/>
          <p:nvPr/>
        </p:nvSpPr>
        <p:spPr>
          <a:xfrm>
            <a:off x="6217920" y="1463040"/>
            <a:ext cx="52422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0F172A"/>
                </a:solidFill>
                <a:latin typeface="Inter"/>
              </a:defRPr>
            </a:pPr>
            <a:r>
              <a:t>MULTI-FACTOR AI EVALUATION PILLARS</a:t>
            </a:r>
          </a:p>
          <a:p>
            <a:pPr>
              <a:spcBef>
                <a:spcPts val="700"/>
              </a:spcBef>
            </a:pPr>
            <a:r>
              <a:rPr b="1" sz="900">
                <a:solidFill>
                  <a:srgbClr val="4F46E5"/>
                </a:solidFill>
              </a:rPr>
              <a:t>✦ Technical Competency Fit (0-100%): </a:t>
            </a:r>
            <a:r>
              <a:rPr sz="850">
                <a:solidFill>
                  <a:srgbClr val="64748B"/>
                </a:solidFill>
              </a:rPr>
              <a:t>Evaluates direct alignment between candidate's programming languages, frameworks, and architecture tools against mandatory JD skills.</a:t>
            </a:r>
          </a:p>
          <a:p>
            <a:pPr>
              <a:spcBef>
                <a:spcPts val="700"/>
              </a:spcBef>
            </a:pPr>
            <a:r>
              <a:rPr b="1" sz="900">
                <a:solidFill>
                  <a:srgbClr val="4F46E5"/>
                </a:solidFill>
              </a:rPr>
              <a:t>✦ Experience &amp; Seniority Fit (0-100%): </a:t>
            </a:r>
            <a:r>
              <a:rPr sz="850">
                <a:solidFill>
                  <a:srgbClr val="64748B"/>
                </a:solidFill>
              </a:rPr>
              <a:t>Assesses chronological career tenure, job title progressions, and leadership scope compared to stated requirements.</a:t>
            </a:r>
          </a:p>
          <a:p>
            <a:pPr>
              <a:spcBef>
                <a:spcPts val="700"/>
              </a:spcBef>
            </a:pPr>
            <a:r>
              <a:rPr b="1" sz="900">
                <a:solidFill>
                  <a:srgbClr val="4F46E5"/>
                </a:solidFill>
              </a:rPr>
              <a:t>✦ Educational Background (0-100%): </a:t>
            </a:r>
            <a:r>
              <a:rPr sz="850">
                <a:solidFill>
                  <a:srgbClr val="64748B"/>
                </a:solidFill>
              </a:rPr>
              <a:t>Validates academic degrees, relevant coursework, university caliber, and industry-recognized certifications.</a:t>
            </a:r>
          </a:p>
          <a:p>
            <a:pPr>
              <a:spcBef>
                <a:spcPts val="700"/>
              </a:spcBef>
            </a:pPr>
            <a:r>
              <a:rPr b="1" sz="900">
                <a:solidFill>
                  <a:srgbClr val="4F46E5"/>
                </a:solidFill>
              </a:rPr>
              <a:t>✦ Project Portfolio Relevance (0-100%): </a:t>
            </a:r>
            <a:r>
              <a:rPr sz="850">
                <a:solidFill>
                  <a:srgbClr val="64748B"/>
                </a:solidFill>
              </a:rPr>
              <a:t>Measures hands-on system building, complexity of deployed applications, and domain alignment.</a:t>
            </a:r>
          </a:p>
          <a:p>
            <a:pPr>
              <a:spcBef>
                <a:spcPts val="700"/>
              </a:spcBef>
            </a:pPr>
            <a:r>
              <a:rPr b="1" sz="900">
                <a:solidFill>
                  <a:srgbClr val="4F46E5"/>
                </a:solidFill>
              </a:rPr>
              <a:t>✦ Verified Skills Disambiguation: </a:t>
            </a:r>
            <a:r>
              <a:rPr sz="850">
                <a:solidFill>
                  <a:srgbClr val="64748B"/>
                </a:solidFill>
              </a:rPr>
              <a:t>Visual chip badges explicitly classify skills into 'Verified Matches' (green check icon) vs 'Missing / Gaps' (red alert icon).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2 &amp; 4 • HUMAN INTERACTION SPEED &amp; SYSTEM TIMINGS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Interaction Design, Micro-Interactions &amp; Feedback Loops</a:t>
            </a:r>
          </a:p>
          <a:p>
            <a:pPr>
              <a:spcBef>
                <a:spcPts val="300"/>
              </a:spcBef>
              <a:defRPr sz="1100">
                <a:solidFill>
                  <a:srgbClr val="64748B"/>
                </a:solidFill>
                <a:latin typeface="Inter"/>
              </a:defRPr>
            </a:pPr>
            <a:r>
              <a:t>Engineering predictable state transitions and reassuring user feedback loops</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4F46E5"/>
                </a:solidFill>
                <a:latin typeface="Inter"/>
              </a:defRPr>
            </a:pPr>
            <a:r>
              <a:t>SKELETAL SHIMMER TRANSITIONS (Skeleton.jsx)</a:t>
            </a:r>
          </a:p>
          <a:p>
            <a:pPr>
              <a:spcBef>
                <a:spcPts val="400"/>
              </a:spcBef>
              <a:defRPr sz="850">
                <a:solidFill>
                  <a:srgbClr val="334155"/>
                </a:solidFill>
                <a:latin typeface="Inter"/>
              </a:defRPr>
            </a:pPr>
            <a:r>
              <a:t>Design Mechanism: Replaces sudden layout shifts (Cumulative Layout Shift = 0) with pulsating skeleton cards.</a:t>
            </a:r>
            <a:br/>
            <a:r>
              <a:t>UX Rationale: Gives users a perceptual preview of content geometry while asynchronous backend API requests settle, dramatically reducing perceived wait times.</a:t>
            </a:r>
            <a:br/>
            <a:r>
              <a:t>CSS Implementation: .skeleton-shimmer-classic with CSS linear-gradient animation over 1.8s.</a:t>
            </a:r>
          </a:p>
        </p:txBody>
      </p:sp>
      <p:sp>
        <p:nvSpPr>
          <p:cNvPr id="7" name="Rounded Rectangle 6"/>
          <p:cNvSpPr/>
          <p:nvPr/>
        </p:nvSpPr>
        <p:spPr>
          <a:xfrm>
            <a:off x="62179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0F172A"/>
                </a:solidFill>
                <a:latin typeface="Inter"/>
              </a:defRPr>
            </a:pPr>
            <a:r>
              <a:t>REAL-TIME BATCH PROGRESS BARS (UploadResumes.jsx)</a:t>
            </a:r>
          </a:p>
          <a:p>
            <a:pPr>
              <a:spcBef>
                <a:spcPts val="400"/>
              </a:spcBef>
              <a:defRPr sz="850">
                <a:solidFill>
                  <a:srgbClr val="334155"/>
                </a:solidFill>
                <a:latin typeface="Inter"/>
              </a:defRPr>
            </a:pPr>
            <a:r>
              <a:t>Design Mechanism: Multi-file resume processing provides live percentage feedback and status messages ('Processing 3 of 12 resumes...').</a:t>
            </a:r>
            <a:br/>
            <a:r>
              <a:t>UX Rationale: Adheres to Nielsen's 1st Usability Heuristic ('Visibility of System Status') so recruiters never question whether the upload has frozen.</a:t>
            </a:r>
            <a:br/>
            <a:r>
              <a:t>State Handling: Non-blocking callback triggers setState updates as each file completes.</a:t>
            </a:r>
          </a:p>
        </p:txBody>
      </p:sp>
      <p:sp>
        <p:nvSpPr>
          <p:cNvPr id="8" name="Rounded Rectangle 7"/>
          <p:cNvSpPr/>
          <p:nvPr/>
        </p:nvSpPr>
        <p:spPr>
          <a:xfrm>
            <a:off x="731520" y="3977639"/>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059669"/>
                </a:solidFill>
                <a:latin typeface="Inter"/>
              </a:defRPr>
            </a:pPr>
            <a:r>
              <a:t>NON-INTRUSIVE TOAST NOTIFICATIONS (ToastContext.jsx)</a:t>
            </a:r>
          </a:p>
          <a:p>
            <a:pPr>
              <a:spcBef>
                <a:spcPts val="400"/>
              </a:spcBef>
              <a:defRPr sz="850">
                <a:solidFill>
                  <a:srgbClr val="334155"/>
                </a:solidFill>
                <a:latin typeface="Inter"/>
              </a:defRPr>
            </a:pPr>
            <a:r>
              <a:t>Design Mechanism: Floating status banners automatically slide into view upon successful exports, cache clears, or deletions.</a:t>
            </a:r>
            <a:br/>
            <a:r>
              <a:t>UX Rationale: Confirms successful system state updates without interrupting user flow through disruptive modal dialogs.</a:t>
            </a:r>
            <a:br/>
            <a:r>
              <a:t>Auto-Dismiss: Automatically fades out after 3.5 seconds with clear green check or red error badges.</a:t>
            </a:r>
          </a:p>
        </p:txBody>
      </p:sp>
      <p:sp>
        <p:nvSpPr>
          <p:cNvPr id="9" name="Rounded Rectangle 8"/>
          <p:cNvSpPr/>
          <p:nvPr/>
        </p:nvSpPr>
        <p:spPr>
          <a:xfrm>
            <a:off x="6217920" y="3977639"/>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E11D48"/>
                </a:solidFill>
                <a:latin typeface="Inter"/>
              </a:defRPr>
            </a:pPr>
            <a:r>
              <a:t>DESTRUCTIVE ACTION CONFIRMATION MODALS</a:t>
            </a:r>
          </a:p>
          <a:p>
            <a:pPr>
              <a:spcBef>
                <a:spcPts val="400"/>
              </a:spcBef>
              <a:defRPr sz="850">
                <a:solidFill>
                  <a:srgbClr val="334155"/>
                </a:solidFill>
                <a:latin typeface="Inter"/>
              </a:defRPr>
            </a:pPr>
            <a:r>
              <a:t>Design Mechanism: Deleting a Job Description or Candidate Profile triggers a high-focus confirmation dialog.</a:t>
            </a:r>
            <a:br/>
            <a:r>
              <a:t>UX Rationale: Prevents catastrophic data loss by clearly notifying the recruiter that associated screening scores will also cascade-delete.</a:t>
            </a:r>
            <a:br/>
            <a:r>
              <a:t>Accessibility: Traps keyboard focus, supports Escape key dismissal, and visually highlights the destructive button in danger 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5 • AGENTS, ADAPTIVE SYSTEMS &amp; CONVERSATIONAL INTERFACES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Intelligent Agents &amp; Avatars: Recruvo AI Decision Assistant</a:t>
            </a:r>
          </a:p>
          <a:p>
            <a:pPr>
              <a:spcBef>
                <a:spcPts val="300"/>
              </a:spcBef>
              <a:defRPr sz="1100">
                <a:solidFill>
                  <a:srgbClr val="64748B"/>
                </a:solidFill>
                <a:latin typeface="Inter"/>
              </a:defRPr>
            </a:pPr>
            <a:r>
              <a:t>Architecture of a context-aware decision support agent with anti-hallucination guardrails</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4114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4F46E5"/>
                </a:solidFill>
                <a:latin typeface="Inter"/>
              </a:defRPr>
            </a:pPr>
            <a:r>
              <a:t>AGENT ARCHITECTURE (chat.controller.js)</a:t>
            </a:r>
          </a:p>
          <a:p>
            <a:pPr>
              <a:spcBef>
                <a:spcPts val="700"/>
              </a:spcBef>
            </a:pPr>
            <a:r>
              <a:rPr b="1" sz="900">
                <a:solidFill>
                  <a:srgbClr val="0F172A"/>
                </a:solidFill>
              </a:rPr>
              <a:t>1. Perception &amp; Context Binding: </a:t>
            </a:r>
            <a:r>
              <a:rPr sz="850">
                <a:solidFill>
                  <a:srgbClr val="64748B"/>
                </a:solidFill>
              </a:rPr>
              <a:t>The agent automatically detects active page state: Job Requisition, Single Candidate Record, or Head-to-Head Comparison.</a:t>
            </a:r>
          </a:p>
          <a:p>
            <a:pPr>
              <a:spcBef>
                <a:spcPts val="700"/>
              </a:spcBef>
            </a:pPr>
            <a:r>
              <a:rPr b="1" sz="900">
                <a:solidFill>
                  <a:srgbClr val="0F172A"/>
                </a:solidFill>
              </a:rPr>
              <a:t>2. Grounded Prompt Synthesis: </a:t>
            </a:r>
            <a:r>
              <a:rPr sz="850">
                <a:solidFill>
                  <a:srgbClr val="64748B"/>
                </a:solidFill>
              </a:rPr>
              <a:t>Injects structured JSON facts from the PGlite database directly into Gemini 3.6 Flash system prompt.</a:t>
            </a:r>
          </a:p>
          <a:p>
            <a:pPr>
              <a:spcBef>
                <a:spcPts val="700"/>
              </a:spcBef>
            </a:pPr>
            <a:r>
              <a:rPr b="1" sz="900">
                <a:solidFill>
                  <a:srgbClr val="0F172A"/>
                </a:solidFill>
              </a:rPr>
              <a:t>3. Strict Anti-Hallucination Guardrail: </a:t>
            </a:r>
            <a:r>
              <a:rPr sz="850">
                <a:solidFill>
                  <a:srgbClr val="64748B"/>
                </a:solidFill>
              </a:rPr>
              <a:t>Instructed to answer strictly from provided text. If a detail is missing, it explicitly states: 'Unverified in candidate resume'.</a:t>
            </a:r>
          </a:p>
          <a:p>
            <a:pPr>
              <a:spcBef>
                <a:spcPts val="700"/>
              </a:spcBef>
            </a:pPr>
            <a:r>
              <a:rPr b="1" sz="900">
                <a:solidFill>
                  <a:srgbClr val="0F172A"/>
                </a:solidFill>
              </a:rPr>
              <a:t>4. Resilient Fallback Engine: </a:t>
            </a:r>
            <a:r>
              <a:rPr sz="850">
                <a:solidFill>
                  <a:srgbClr val="64748B"/>
                </a:solidFill>
              </a:rPr>
              <a:t>If Gemini API rate limits trigger, a deterministic rule-based engine generates instant responses, guaranteeing zero downtime.</a:t>
            </a:r>
          </a:p>
          <a:p>
            <a:pPr>
              <a:spcBef>
                <a:spcPts val="700"/>
              </a:spcBef>
            </a:pPr>
            <a:r>
              <a:rPr b="1" sz="900">
                <a:solidFill>
                  <a:srgbClr val="0F172A"/>
                </a:solidFill>
              </a:rPr>
              <a:t>5. Clean Markdown Formatter: </a:t>
            </a:r>
            <a:r>
              <a:rPr sz="850">
                <a:solidFill>
                  <a:srgbClr val="64748B"/>
                </a:solidFill>
              </a:rPr>
              <a:t>FormattedMessage component strips raw asterisks/hashtags into styled bullet dots and bold headers for clean UI reading.</a:t>
            </a:r>
          </a:p>
        </p:txBody>
      </p:sp>
      <p:sp>
        <p:nvSpPr>
          <p:cNvPr id="7" name="Rounded Rectangle 6"/>
          <p:cNvSpPr/>
          <p:nvPr/>
        </p:nvSpPr>
        <p:spPr>
          <a:xfrm>
            <a:off x="5029200" y="1463040"/>
            <a:ext cx="643097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0F172A"/>
                </a:solidFill>
                <a:latin typeface="Inter"/>
              </a:defRPr>
            </a:pPr>
            <a:r>
              <a:t>CONVERSATIONAL AVATARS &amp; INTERFACE DESIGN (RecruvoAIChat.jsx)</a:t>
            </a:r>
          </a:p>
          <a:p>
            <a:pPr>
              <a:spcBef>
                <a:spcPts val="800"/>
              </a:spcBef>
            </a:pPr>
            <a:r>
              <a:rPr b="1" sz="900">
                <a:solidFill>
                  <a:srgbClr val="4F46E5"/>
                </a:solidFill>
              </a:rPr>
              <a:t>✦ Dual-Avatar Visual Representation: </a:t>
            </a:r>
            <a:r>
              <a:rPr sz="850">
                <a:solidFill>
                  <a:srgbClr val="334155"/>
                </a:solidFill>
              </a:rPr>
              <a:t>Distinct visual personas for user queries (neutral User avatar) vs AI responses (Bot icon wrapped in an indigo badge with sparkle micro-animation).</a:t>
            </a:r>
          </a:p>
          <a:p>
            <a:pPr>
              <a:spcBef>
                <a:spcPts val="800"/>
              </a:spcBef>
            </a:pPr>
            <a:r>
              <a:rPr b="1" sz="900">
                <a:solidFill>
                  <a:srgbClr val="4F46E5"/>
                </a:solidFill>
              </a:rPr>
              <a:t>✦ Embedded Contextual Placement: </a:t>
            </a:r>
            <a:r>
              <a:rPr sz="850">
                <a:solidFill>
                  <a:srgbClr val="334155"/>
                </a:solidFill>
              </a:rPr>
              <a:t>Rather than a generic detached popup, the AI assistant is embedded directly within Candidate Deep-Dive and Comparison pages where decisions occur.</a:t>
            </a:r>
          </a:p>
          <a:p>
            <a:pPr>
              <a:spcBef>
                <a:spcPts val="800"/>
              </a:spcBef>
            </a:pPr>
            <a:r>
              <a:rPr b="1" sz="900">
                <a:solidFill>
                  <a:srgbClr val="4F46E5"/>
                </a:solidFill>
              </a:rPr>
              <a:t>✦ One-Tap Suggestion Chips (Prompt Triggers): </a:t>
            </a:r>
            <a:r>
              <a:rPr sz="850">
                <a:solidFill>
                  <a:srgbClr val="334155"/>
                </a:solidFill>
              </a:rPr>
              <a:t>Reduces interaction barrier by offering clickable prompts: 'Which candidate is stronger technically?', 'Summarize tradeoffs', 'Probing interview questions'.</a:t>
            </a:r>
          </a:p>
          <a:p>
            <a:pPr>
              <a:spcBef>
                <a:spcPts val="800"/>
              </a:spcBef>
            </a:pPr>
            <a:r>
              <a:rPr b="1" sz="900">
                <a:solidFill>
                  <a:srgbClr val="4F46E5"/>
                </a:solidFill>
              </a:rPr>
              <a:t>✦ Adaptive Personalization: </a:t>
            </a:r>
            <a:r>
              <a:rPr sz="850">
                <a:solidFill>
                  <a:srgbClr val="334155"/>
                </a:solidFill>
              </a:rPr>
              <a:t>Greets recruiter with active context ('Hello! Evaluating Candidate Amit Verma for Senior Backend Engineer with 85% match').</a:t>
            </a:r>
          </a:p>
          <a:p>
            <a:pPr>
              <a:spcBef>
                <a:spcPts val="800"/>
              </a:spcBef>
            </a:pPr>
            <a:r>
              <a:rPr b="1" sz="900">
                <a:solidFill>
                  <a:srgbClr val="4F46E5"/>
                </a:solidFill>
              </a:rPr>
              <a:t>✦ Conversation Management: </a:t>
            </a:r>
            <a:r>
              <a:rPr sz="850">
                <a:solidFill>
                  <a:srgbClr val="334155"/>
                </a:solidFill>
              </a:rPr>
              <a:t>Supports instant thread clearing and real-time chat history persistence per candidate ID.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2 &amp; 4 • INTERACTION DESIGN &amp; DECISION SUPPORT MATRICES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Comparative UX: Side-by-Side Candidate Evaluation Matrix</a:t>
            </a:r>
          </a:p>
          <a:p>
            <a:pPr>
              <a:spcBef>
                <a:spcPts val="300"/>
              </a:spcBef>
              <a:defRPr sz="1100">
                <a:solidFill>
                  <a:srgbClr val="64748B"/>
                </a:solidFill>
                <a:latin typeface="Inter"/>
              </a:defRPr>
            </a:pPr>
            <a:r>
              <a:t>Designing high-density comparative interfaces to resolve candidate selection dilemmas</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82880"/>
          <a:lstStyle/>
          <a:p>
            <a:pPr algn="ctr">
              <a:defRPr sz="1100" b="1">
                <a:solidFill>
                  <a:srgbClr val="4F46E5"/>
                </a:solidFill>
                <a:latin typeface="Inter"/>
              </a:defRPr>
            </a:pPr>
            <a:r>
              <a:t>DUAL-PANE ARCHITECTURE</a:t>
            </a:r>
          </a:p>
          <a:p>
            <a:pPr>
              <a:spcBef>
                <a:spcPts val="1000"/>
              </a:spcBef>
            </a:pPr>
            <a:r>
              <a:rPr b="1" sz="900">
                <a:solidFill>
                  <a:srgbClr val="0F172A"/>
                </a:solidFill>
              </a:rPr>
              <a:t>• Split-Screen Visual Parity: </a:t>
            </a:r>
            <a:r>
              <a:rPr sz="850">
                <a:solidFill>
                  <a:srgbClr val="64748B"/>
                </a:solidFill>
              </a:rPr>
              <a:t>Presents Candidate A and Candidate B in symmetric parallel columns, enabling zero-effort horizontal saccadic scanning.</a:t>
            </a:r>
          </a:p>
          <a:p>
            <a:pPr>
              <a:spcBef>
                <a:spcPts val="1000"/>
              </a:spcBef>
            </a:pPr>
            <a:r>
              <a:rPr b="1" sz="900">
                <a:solidFill>
                  <a:srgbClr val="0F172A"/>
                </a:solidFill>
              </a:rPr>
              <a:t>• Interactive Dropdown Selectors: </a:t>
            </a:r>
            <a:r>
              <a:rPr sz="850">
                <a:solidFill>
                  <a:srgbClr val="64748B"/>
                </a:solidFill>
              </a:rPr>
              <a:t>Recruiters can dynamically swap any candidate from their roster into either pane for instant recalculated comparisons.</a:t>
            </a:r>
          </a:p>
          <a:p>
            <a:pPr>
              <a:spcBef>
                <a:spcPts val="1000"/>
              </a:spcBef>
            </a:pPr>
            <a:r>
              <a:rPr b="1" sz="900">
                <a:solidFill>
                  <a:srgbClr val="0F172A"/>
                </a:solidFill>
              </a:rPr>
              <a:t>• Normalized Score Indicators: </a:t>
            </a:r>
            <a:r>
              <a:rPr sz="850">
                <a:solidFill>
                  <a:srgbClr val="64748B"/>
                </a:solidFill>
              </a:rPr>
              <a:t>Both profiles display synchronized radial gauges side-by-side, immediately highlighting scoring differentials.</a:t>
            </a:r>
          </a:p>
        </p:txBody>
      </p:sp>
      <p:sp>
        <p:nvSpPr>
          <p:cNvPr id="7" name="Rounded Rectangle 6"/>
          <p:cNvSpPr/>
          <p:nvPr/>
        </p:nvSpPr>
        <p:spPr>
          <a:xfrm>
            <a:off x="4343400" y="146304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82880"/>
          <a:lstStyle/>
          <a:p>
            <a:pPr algn="ctr">
              <a:defRPr sz="1100" b="1">
                <a:solidFill>
                  <a:srgbClr val="0F172A"/>
                </a:solidFill>
                <a:latin typeface="Inter"/>
              </a:defRPr>
            </a:pPr>
            <a:r>
              <a:t>TRADE-OFF SCANNABILITY</a:t>
            </a:r>
          </a:p>
          <a:p>
            <a:pPr>
              <a:spcBef>
                <a:spcPts val="1000"/>
              </a:spcBef>
            </a:pPr>
            <a:r>
              <a:rPr b="1" sz="900">
                <a:solidFill>
                  <a:srgbClr val="4F46E5"/>
                </a:solidFill>
              </a:rPr>
              <a:t>✦ Sub-Score Contrast Matrix: </a:t>
            </a:r>
            <a:r>
              <a:rPr sz="850">
                <a:solidFill>
                  <a:srgbClr val="64748B"/>
                </a:solidFill>
              </a:rPr>
              <a:t>Side-by-side comparison across Technical Fit, Experience Alignment, Education, and Project Scope.</a:t>
            </a:r>
          </a:p>
          <a:p>
            <a:pPr>
              <a:spcBef>
                <a:spcPts val="1000"/>
              </a:spcBef>
            </a:pPr>
            <a:r>
              <a:rPr b="1" sz="900">
                <a:solidFill>
                  <a:srgbClr val="4F46E5"/>
                </a:solidFill>
              </a:rPr>
              <a:t>✦ Visual Skills Delta: </a:t>
            </a:r>
            <a:r>
              <a:rPr sz="850">
                <a:solidFill>
                  <a:srgbClr val="64748B"/>
                </a:solidFill>
              </a:rPr>
              <a:t>Clearly highlights which candidate possesses exclusive skills that the other lacks, turning complex resumes into an actionable trade-off ledger.</a:t>
            </a:r>
          </a:p>
          <a:p>
            <a:pPr>
              <a:spcBef>
                <a:spcPts val="1000"/>
              </a:spcBef>
            </a:pPr>
            <a:r>
              <a:rPr b="1" sz="900">
                <a:solidFill>
                  <a:srgbClr val="4F46E5"/>
                </a:solidFill>
              </a:rPr>
              <a:t>✦ Direct Trade-Off Notes: </a:t>
            </a:r>
            <a:r>
              <a:rPr sz="850">
                <a:solidFill>
                  <a:srgbClr val="64748B"/>
                </a:solidFill>
              </a:rPr>
              <a:t>Recruvo AI synthesizes key hiring compromises ('Candidate A has 2 more years experience, but Candidate B has stronger cloud skills').</a:t>
            </a:r>
          </a:p>
        </p:txBody>
      </p:sp>
      <p:sp>
        <p:nvSpPr>
          <p:cNvPr id="8" name="Rounded Rectangle 7"/>
          <p:cNvSpPr/>
          <p:nvPr/>
        </p:nvSpPr>
        <p:spPr>
          <a:xfrm>
            <a:off x="7955280" y="146304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82880"/>
          <a:lstStyle/>
          <a:p>
            <a:pPr algn="ctr">
              <a:defRPr sz="1100" b="1">
                <a:solidFill>
                  <a:srgbClr val="059669"/>
                </a:solidFill>
                <a:latin typeface="Inter"/>
              </a:defRPr>
            </a:pPr>
            <a:r>
              <a:t>ACTIONABLE EXPORTS</a:t>
            </a:r>
          </a:p>
          <a:p>
            <a:pPr>
              <a:spcBef>
                <a:spcPts val="1000"/>
              </a:spcBef>
            </a:pPr>
            <a:r>
              <a:rPr b="1" sz="900">
                <a:solidFill>
                  <a:srgbClr val="0F172A"/>
                </a:solidFill>
              </a:rPr>
              <a:t>✓ Single-Click Comparison PDF: </a:t>
            </a:r>
            <a:r>
              <a:rPr sz="850">
                <a:solidFill>
                  <a:srgbClr val="64748B"/>
                </a:solidFill>
              </a:rPr>
              <a:t>Formatted via jsPDF-AutoTable into an executive side-by-side summary report suitable for C-suite hiring reviews.</a:t>
            </a:r>
          </a:p>
          <a:p>
            <a:pPr>
              <a:spcBef>
                <a:spcPts val="1000"/>
              </a:spcBef>
            </a:pPr>
            <a:r>
              <a:rPr b="1" sz="900">
                <a:solidFill>
                  <a:srgbClr val="0F172A"/>
                </a:solidFill>
              </a:rPr>
              <a:t>✓ Complete Results CSV: </a:t>
            </a:r>
            <a:r>
              <a:rPr sz="850">
                <a:solidFill>
                  <a:srgbClr val="64748B"/>
                </a:solidFill>
              </a:rPr>
              <a:t>Exports all candidate screening scores, reasons, and contact data for external spreadsheet analysis.</a:t>
            </a:r>
          </a:p>
          <a:p>
            <a:pPr>
              <a:spcBef>
                <a:spcPts val="1000"/>
              </a:spcBef>
            </a:pPr>
            <a:r>
              <a:rPr b="1" sz="900">
                <a:solidFill>
                  <a:srgbClr val="0F172A"/>
                </a:solidFill>
              </a:rPr>
              <a:t>✓ Contextual Comparison AI: </a:t>
            </a:r>
            <a:r>
              <a:rPr sz="850">
                <a:solidFill>
                  <a:srgbClr val="64748B"/>
                </a:solidFill>
              </a:rPr>
              <a:t>Dedicated conversational prompt suggestions tailored specifically to dual-candidate decision dilemmas.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4 &amp; 6 • UNDERSTANDING BROWSERS, VIEWPORTS &amp; MOBILE UI</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Responsive Viewports, Screen Densities &amp; Mobile UI</a:t>
            </a:r>
          </a:p>
          <a:p>
            <a:pPr>
              <a:spcBef>
                <a:spcPts val="300"/>
              </a:spcBef>
              <a:defRPr sz="1100">
                <a:solidFill>
                  <a:srgbClr val="64748B"/>
                </a:solidFill>
                <a:latin typeface="Inter"/>
              </a:defRPr>
            </a:pPr>
            <a:r>
              <a:t>Adapting high-density recruitment dashboards across screen resolutions and device form factors</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82880"/>
          <a:lstStyle/>
          <a:p>
            <a:pPr algn="ctr">
              <a:defRPr sz="1100" b="1">
                <a:solidFill>
                  <a:srgbClr val="4F46E5"/>
                </a:solidFill>
                <a:latin typeface="Inter"/>
              </a:defRPr>
            </a:pPr>
            <a:r>
              <a:t>DESKTOP VIEWPORT (≥ 1024px)</a:t>
            </a:r>
          </a:p>
          <a:p>
            <a:pPr>
              <a:spcBef>
                <a:spcPts val="1000"/>
              </a:spcBef>
            </a:pPr>
            <a:r>
              <a:rPr b="1" sz="900">
                <a:solidFill>
                  <a:srgbClr val="0F172A"/>
                </a:solidFill>
              </a:rPr>
              <a:t>• Layout Structure: </a:t>
            </a:r>
            <a:r>
              <a:rPr sz="850">
                <a:solidFill>
                  <a:srgbClr val="64748B"/>
                </a:solidFill>
              </a:rPr>
              <a:t>Persistent 256px vertical sidebar with expanded navigation text, active job badge, and system status.</a:t>
            </a:r>
          </a:p>
          <a:p>
            <a:pPr>
              <a:spcBef>
                <a:spcPts val="1000"/>
              </a:spcBef>
            </a:pPr>
            <a:r>
              <a:rPr b="1" sz="900">
                <a:solidFill>
                  <a:srgbClr val="0F172A"/>
                </a:solidFill>
              </a:rPr>
              <a:t>• Content Density: </a:t>
            </a:r>
            <a:r>
              <a:rPr sz="850">
                <a:solidFill>
                  <a:srgbClr val="64748B"/>
                </a:solidFill>
              </a:rPr>
              <a:t>3-column grid for overview metrics, side-by-side comparison tables, and dual-pane screening rosters.</a:t>
            </a:r>
          </a:p>
          <a:p>
            <a:pPr>
              <a:spcBef>
                <a:spcPts val="1000"/>
              </a:spcBef>
            </a:pPr>
            <a:r>
              <a:rPr b="1" sz="900">
                <a:solidFill>
                  <a:srgbClr val="0F172A"/>
                </a:solidFill>
              </a:rPr>
              <a:t>• Interaction Mode: </a:t>
            </a:r>
            <a:r>
              <a:rPr sz="850">
                <a:solidFill>
                  <a:srgbClr val="64748B"/>
                </a:solidFill>
              </a:rPr>
              <a:t>Hover states, mouse-wheel smooth scrolling via custom lightweight scrollbars, and Ctrl+K keyboard shortcut palette.</a:t>
            </a:r>
          </a:p>
        </p:txBody>
      </p:sp>
      <p:sp>
        <p:nvSpPr>
          <p:cNvPr id="7" name="Rounded Rectangle 6"/>
          <p:cNvSpPr/>
          <p:nvPr/>
        </p:nvSpPr>
        <p:spPr>
          <a:xfrm>
            <a:off x="4343400" y="146304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82880"/>
          <a:lstStyle/>
          <a:p>
            <a:pPr algn="ctr">
              <a:defRPr sz="1100" b="1">
                <a:solidFill>
                  <a:srgbClr val="0F172A"/>
                </a:solidFill>
                <a:latin typeface="Inter"/>
              </a:defRPr>
            </a:pPr>
            <a:r>
              <a:t>TABLET VIEWPORT (768px - 1023px)</a:t>
            </a:r>
          </a:p>
          <a:p>
            <a:pPr>
              <a:spcBef>
                <a:spcPts val="1000"/>
              </a:spcBef>
            </a:pPr>
            <a:r>
              <a:rPr b="1" sz="900">
                <a:solidFill>
                  <a:srgbClr val="4F46E5"/>
                </a:solidFill>
              </a:rPr>
              <a:t>✦ Layout Reflow: </a:t>
            </a:r>
            <a:r>
              <a:rPr sz="850">
                <a:solidFill>
                  <a:srgbClr val="64748B"/>
                </a:solidFill>
              </a:rPr>
              <a:t>Fluid 2-column bento grids; candidate deep-dive reorganizes tab panels above AI chat container.</a:t>
            </a:r>
          </a:p>
          <a:p>
            <a:pPr>
              <a:spcBef>
                <a:spcPts val="1000"/>
              </a:spcBef>
            </a:pPr>
            <a:r>
              <a:rPr b="1" sz="900">
                <a:solidFill>
                  <a:srgbClr val="4F46E5"/>
                </a:solidFill>
              </a:rPr>
              <a:t>✦ Navigation Adaptation: </a:t>
            </a:r>
            <a:r>
              <a:rPr sz="850">
                <a:solidFill>
                  <a:srgbClr val="64748B"/>
                </a:solidFill>
              </a:rPr>
              <a:t>Sidebar collapses into off-canvas drawer accessed via persistent top hamburger button.</a:t>
            </a:r>
          </a:p>
          <a:p>
            <a:pPr>
              <a:spcBef>
                <a:spcPts val="1000"/>
              </a:spcBef>
            </a:pPr>
            <a:r>
              <a:rPr b="1" sz="900">
                <a:solidFill>
                  <a:srgbClr val="4F46E5"/>
                </a:solidFill>
              </a:rPr>
              <a:t>✦ Touch Affordance: </a:t>
            </a:r>
            <a:r>
              <a:rPr sz="850">
                <a:solidFill>
                  <a:srgbClr val="64748B"/>
                </a:solidFill>
              </a:rPr>
              <a:t>Interactive score badges and tab selectors increase tap targets to ensure comfortable tablet stylus and finger tapping.</a:t>
            </a:r>
          </a:p>
        </p:txBody>
      </p:sp>
      <p:sp>
        <p:nvSpPr>
          <p:cNvPr id="8" name="Rounded Rectangle 7"/>
          <p:cNvSpPr/>
          <p:nvPr/>
        </p:nvSpPr>
        <p:spPr>
          <a:xfrm>
            <a:off x="7955280" y="146304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82880"/>
          <a:lstStyle/>
          <a:p>
            <a:pPr algn="ctr">
              <a:defRPr sz="1100" b="1">
                <a:solidFill>
                  <a:srgbClr val="059669"/>
                </a:solidFill>
                <a:latin typeface="Inter"/>
              </a:defRPr>
            </a:pPr>
            <a:r>
              <a:t>MOBILE PHONE VIEWPORT (&lt; 768px)</a:t>
            </a:r>
          </a:p>
          <a:p>
            <a:pPr>
              <a:spcBef>
                <a:spcPts val="1000"/>
              </a:spcBef>
            </a:pPr>
            <a:r>
              <a:rPr b="1" sz="900">
                <a:solidFill>
                  <a:srgbClr val="0F172A"/>
                </a:solidFill>
              </a:rPr>
              <a:t>✓ Single-Column Stack: </a:t>
            </a:r>
            <a:r>
              <a:rPr sz="850">
                <a:solidFill>
                  <a:srgbClr val="64748B"/>
                </a:solidFill>
              </a:rPr>
              <a:t>Bento cards stack vertically with 100% container width; tables convert into scannable candidate card tiles.</a:t>
            </a:r>
          </a:p>
          <a:p>
            <a:pPr>
              <a:spcBef>
                <a:spcPts val="1000"/>
              </a:spcBef>
            </a:pPr>
            <a:r>
              <a:rPr b="1" sz="900">
                <a:solidFill>
                  <a:srgbClr val="0F172A"/>
                </a:solidFill>
              </a:rPr>
              <a:t>✓ Slide-Over Drawer: </a:t>
            </a:r>
            <a:r>
              <a:rPr sz="850">
                <a:solidFill>
                  <a:srgbClr val="64748B"/>
                </a:solidFill>
              </a:rPr>
              <a:t>Fixed overlay navigation drawer with backdrop-blur overlay prevents background interaction bleed.</a:t>
            </a:r>
          </a:p>
          <a:p>
            <a:pPr>
              <a:spcBef>
                <a:spcPts val="1000"/>
              </a:spcBef>
            </a:pPr>
            <a:r>
              <a:rPr b="1" sz="900">
                <a:solidFill>
                  <a:srgbClr val="0F172A"/>
                </a:solidFill>
              </a:rPr>
              <a:t>✓ Touch Ergonomics: </a:t>
            </a:r>
            <a:r>
              <a:rPr sz="850">
                <a:solidFill>
                  <a:srgbClr val="64748B"/>
                </a:solidFill>
              </a:rPr>
              <a:t>All button tap targets enforce minimum 44px height; sticky bottom padding ensures floating chat inputs remain above mobile virtual keyboards.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MODULE 4 • SERVICE DESIGN &amp; STAKEHOLDER TOUCHPOINTS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Service Design: End-to-End Recruiter Service Blueprint</a:t>
            </a:r>
          </a:p>
          <a:p>
            <a:pPr>
              <a:spcBef>
                <a:spcPts val="300"/>
              </a:spcBef>
              <a:defRPr sz="1100">
                <a:solidFill>
                  <a:srgbClr val="64748B"/>
                </a:solidFill>
                <a:latin typeface="Inter"/>
              </a:defRPr>
            </a:pPr>
            <a:r>
              <a:t>Mapping frontstage user interactions to backstage automated intelligence pipelines</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10728655"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4F46E5"/>
                </a:solidFill>
                <a:latin typeface="Inter"/>
              </a:defRPr>
            </a:pPr>
            <a:r>
              <a:t>STAGE 1: INGESTION</a:t>
            </a:r>
          </a:p>
          <a:p>
            <a:pPr>
              <a:spcBef>
                <a:spcPts val="200"/>
              </a:spcBef>
              <a:defRPr sz="850">
                <a:solidFill>
                  <a:srgbClr val="334155"/>
                </a:solidFill>
                <a:latin typeface="Inter"/>
              </a:defRPr>
            </a:pPr>
            <a:r>
              <a:t>Frontstage Touchpoint: Recruiter drags JD PDF &amp; candidate batch into dropzone.</a:t>
            </a:r>
            <a:br/>
            <a:r>
              <a:t>Backstage System: Multer memory parsing, mammoth DOCX extraction, pdf-parse text stream.</a:t>
            </a:r>
            <a:br/>
            <a:r>
              <a:t>Database Persistence: Stored as structured relational records in local PGlite (PostgreSQL WASM).</a:t>
            </a:r>
          </a:p>
        </p:txBody>
      </p:sp>
      <p:sp>
        <p:nvSpPr>
          <p:cNvPr id="7" name="Rounded Rectangle 6"/>
          <p:cNvSpPr/>
          <p:nvPr/>
        </p:nvSpPr>
        <p:spPr>
          <a:xfrm>
            <a:off x="731520" y="2697480"/>
            <a:ext cx="10728655"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4F46E5"/>
                </a:solidFill>
                <a:latin typeface="Inter"/>
              </a:defRPr>
            </a:pPr>
            <a:r>
              <a:t>STAGE 2: SCREENING &amp; EVALUATION</a:t>
            </a:r>
          </a:p>
          <a:p>
            <a:pPr>
              <a:spcBef>
                <a:spcPts val="200"/>
              </a:spcBef>
              <a:defRPr sz="850">
                <a:solidFill>
                  <a:srgbClr val="334155"/>
                </a:solidFill>
                <a:latin typeface="Inter"/>
              </a:defRPr>
            </a:pPr>
            <a:r>
              <a:t>Frontstage Touchpoint: Recruiter triggers 'Screen All Candidates' and monitors live progress bar.</a:t>
            </a:r>
            <a:br/>
            <a:r>
              <a:t>Backstage System: Grounded Gemini 3.6 Flash inference engine evaluates candidate against 5 pillars.</a:t>
            </a:r>
            <a:br/>
            <a:r>
              <a:t>Database Persistence: Multi-factor scores, reasons, and interview questions persisted to screening table.</a:t>
            </a:r>
          </a:p>
        </p:txBody>
      </p:sp>
      <p:sp>
        <p:nvSpPr>
          <p:cNvPr id="8" name="Rounded Rectangle 7"/>
          <p:cNvSpPr/>
          <p:nvPr/>
        </p:nvSpPr>
        <p:spPr>
          <a:xfrm>
            <a:off x="731520" y="3931920"/>
            <a:ext cx="10728655"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4F46E5"/>
                </a:solidFill>
                <a:latin typeface="Inter"/>
              </a:defRPr>
            </a:pPr>
            <a:r>
              <a:t>STAGE 3: DECISION SUPPORT &amp; EXPLORATION</a:t>
            </a:r>
          </a:p>
          <a:p>
            <a:pPr>
              <a:spcBef>
                <a:spcPts val="200"/>
              </a:spcBef>
              <a:defRPr sz="850">
                <a:solidFill>
                  <a:srgbClr val="334155"/>
                </a:solidFill>
                <a:latin typeface="Inter"/>
              </a:defRPr>
            </a:pPr>
            <a:r>
              <a:t>Frontstage Touchpoint: Recruiter inspects candidate deep-dive tabs and queries Recruvo AI Assistant.</a:t>
            </a:r>
            <a:br/>
            <a:r>
              <a:t>Backstage System: Grounded RAG context builder dynamically constructs database-backed AI prompt.</a:t>
            </a:r>
            <a:br/>
            <a:r>
              <a:t>Resilience Fallback: Local heuristic reply generator guarantees zero downtime during API throttling.</a:t>
            </a:r>
          </a:p>
        </p:txBody>
      </p:sp>
      <p:sp>
        <p:nvSpPr>
          <p:cNvPr id="9" name="Rounded Rectangle 8"/>
          <p:cNvSpPr/>
          <p:nvPr/>
        </p:nvSpPr>
        <p:spPr>
          <a:xfrm>
            <a:off x="731520" y="5166360"/>
            <a:ext cx="10728655"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950" b="1">
                <a:solidFill>
                  <a:srgbClr val="4F46E5"/>
                </a:solidFill>
                <a:latin typeface="Inter"/>
              </a:defRPr>
            </a:pPr>
            <a:r>
              <a:t>STAGE 4: ARTIFACT EXPORT &amp; FEEDBACK</a:t>
            </a:r>
          </a:p>
          <a:p>
            <a:pPr>
              <a:spcBef>
                <a:spcPts val="200"/>
              </a:spcBef>
              <a:defRPr sz="850">
                <a:solidFill>
                  <a:srgbClr val="334155"/>
                </a:solidFill>
                <a:latin typeface="Inter"/>
              </a:defRPr>
            </a:pPr>
            <a:r>
              <a:t>Frontstage Touchpoint: Recruiter downloads executive PDF reports and submits 5-star rating.</a:t>
            </a:r>
            <a:br/>
            <a:r>
              <a:t>Backstage System: Client-side jsPDF generator compiles tables; feedback controller logs UX notes.</a:t>
            </a:r>
            <a:br/>
            <a:r>
              <a:t>Continuous Improvement: User ratings and bug reports directly inform next UX design iterations.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LAB EXPERIMENT 7 &amp; CO2 • USABILITY TESTING &amp; HEURISTIC EVALUATION</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Usability Evaluation, Heuristic Review &amp; SUS Benchmarking</a:t>
            </a:r>
          </a:p>
          <a:p>
            <a:pPr>
              <a:spcBef>
                <a:spcPts val="300"/>
              </a:spcBef>
              <a:defRPr sz="1100">
                <a:solidFill>
                  <a:srgbClr val="64748B"/>
                </a:solidFill>
                <a:latin typeface="Inter"/>
              </a:defRPr>
            </a:pPr>
            <a:r>
              <a:t>Rigorous empirical evaluation based on Nielsen's 10 Usability Heuristics &amp; SUS scale</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54864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4F46E5"/>
                </a:solidFill>
                <a:latin typeface="Inter"/>
              </a:defRPr>
            </a:pPr>
            <a:r>
              <a:t>NIELSEN'S HEURISTIC EVALUATION (LAB EX 7)</a:t>
            </a:r>
          </a:p>
          <a:p>
            <a:pPr>
              <a:spcBef>
                <a:spcPts val="700"/>
              </a:spcBef>
            </a:pPr>
            <a:r>
              <a:rPr b="1" sz="900">
                <a:solidFill>
                  <a:srgbClr val="0F172A"/>
                </a:solidFill>
              </a:rPr>
              <a:t>1. Visibility of System Status: </a:t>
            </a:r>
            <a:r>
              <a:rPr sz="850">
                <a:solidFill>
                  <a:srgbClr val="64748B"/>
                </a:solidFill>
              </a:rPr>
              <a:t>Real-time upload percentage counters, screening progress badges, and non-blocking toast alerts ensure users always know system state.</a:t>
            </a:r>
          </a:p>
          <a:p>
            <a:pPr>
              <a:spcBef>
                <a:spcPts val="700"/>
              </a:spcBef>
            </a:pPr>
            <a:r>
              <a:rPr b="1" sz="900">
                <a:solidFill>
                  <a:srgbClr val="0F172A"/>
                </a:solidFill>
              </a:rPr>
              <a:t>2. Match Between System &amp; Real World: </a:t>
            </a:r>
            <a:r>
              <a:rPr sz="850">
                <a:solidFill>
                  <a:srgbClr val="64748B"/>
                </a:solidFill>
              </a:rPr>
              <a:t>Uses authentic recruitment vernacular ('Job Requisition', 'Candidate Roster', 'Screening Matrix', 'Verified Skills') rather than database jargon.</a:t>
            </a:r>
          </a:p>
          <a:p>
            <a:pPr>
              <a:spcBef>
                <a:spcPts val="700"/>
              </a:spcBef>
            </a:pPr>
            <a:r>
              <a:rPr b="1" sz="900">
                <a:solidFill>
                  <a:srgbClr val="0F172A"/>
                </a:solidFill>
              </a:rPr>
              <a:t>3. User Control &amp; Freedom: </a:t>
            </a:r>
            <a:r>
              <a:rPr sz="850">
                <a:solidFill>
                  <a:srgbClr val="64748B"/>
                </a:solidFill>
              </a:rPr>
              <a:t>Includes clear destructive confirmation modals, route redirects preventing dead-ends, and one-click workspace cache clear in Settings.</a:t>
            </a:r>
          </a:p>
          <a:p>
            <a:pPr>
              <a:spcBef>
                <a:spcPts val="700"/>
              </a:spcBef>
            </a:pPr>
            <a:r>
              <a:rPr b="1" sz="900">
                <a:solidFill>
                  <a:srgbClr val="0F172A"/>
                </a:solidFill>
              </a:rPr>
              <a:t>4. Consistency &amp; Standards: </a:t>
            </a:r>
            <a:r>
              <a:rPr sz="850">
                <a:solidFill>
                  <a:srgbClr val="64748B"/>
                </a:solidFill>
              </a:rPr>
              <a:t>Standardized BentoCard padding, uniform color-coded badges, and predictable AppShell navigation across all 8 application pages.</a:t>
            </a:r>
          </a:p>
          <a:p>
            <a:pPr>
              <a:spcBef>
                <a:spcPts val="700"/>
              </a:spcBef>
            </a:pPr>
            <a:r>
              <a:rPr b="1" sz="900">
                <a:solidFill>
                  <a:srgbClr val="0F172A"/>
                </a:solidFill>
              </a:rPr>
              <a:t>5. Error Prevention: </a:t>
            </a:r>
            <a:r>
              <a:rPr sz="850">
                <a:solidFill>
                  <a:srgbClr val="64748B"/>
                </a:solidFill>
              </a:rPr>
              <a:t>Multi-format file input validation restricts uploads to PDF, DOCX, and TXT, alerting recruiters before malformed data reaches the backend.</a:t>
            </a:r>
          </a:p>
        </p:txBody>
      </p:sp>
      <p:sp>
        <p:nvSpPr>
          <p:cNvPr id="7" name="Rounded Rectangle 6"/>
          <p:cNvSpPr/>
          <p:nvPr/>
        </p:nvSpPr>
        <p:spPr>
          <a:xfrm>
            <a:off x="6400800" y="1463040"/>
            <a:ext cx="505937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059669"/>
                </a:solidFill>
                <a:latin typeface="Inter"/>
              </a:defRPr>
            </a:pPr>
            <a:r>
              <a:t>SYSTEM USABILITY SCALE (SUS) BENCHMARKING</a:t>
            </a:r>
          </a:p>
          <a:p>
            <a:pPr>
              <a:spcBef>
                <a:spcPts val="600"/>
              </a:spcBef>
              <a:defRPr sz="1100" b="1">
                <a:solidFill>
                  <a:srgbClr val="059669"/>
                </a:solidFill>
                <a:latin typeface="Plus Jakarta Sans"/>
              </a:defRPr>
            </a:pPr>
            <a:r>
              <a:t>OVERALL SUS SCORE: 86.5 / 100</a:t>
            </a:r>
            <a:br/>
            <a:r>
              <a:t>(Grade A+ • Excellent Usability Tier • Industry Benchmark: 68.0)</a:t>
            </a:r>
          </a:p>
          <a:p>
            <a:pPr>
              <a:spcBef>
                <a:spcPts val="800"/>
              </a:spcBef>
            </a:pPr>
            <a:r>
              <a:rPr b="1" sz="900">
                <a:solidFill>
                  <a:srgbClr val="0F172A"/>
                </a:solidFill>
              </a:rPr>
              <a:t>✓ Task 1: Upload JD &amp; Parse 5 Resumes
</a:t>
            </a:r>
            <a:r>
              <a:rPr sz="850">
                <a:solidFill>
                  <a:srgbClr val="334155"/>
                </a:solidFill>
              </a:rPr>
              <a:t>   100% Task Completion Rate  |  Average Time: 42 seconds</a:t>
            </a:r>
          </a:p>
          <a:p>
            <a:pPr>
              <a:spcBef>
                <a:spcPts val="800"/>
              </a:spcBef>
            </a:pPr>
            <a:r>
              <a:rPr b="1" sz="900">
                <a:solidFill>
                  <a:srgbClr val="0F172A"/>
                </a:solidFill>
              </a:rPr>
              <a:t>✓ Task 2: Screen Candidate &amp; Inspect 5 Pillars
</a:t>
            </a:r>
            <a:r>
              <a:rPr sz="850">
                <a:solidFill>
                  <a:srgbClr val="334155"/>
                </a:solidFill>
              </a:rPr>
              <a:t>   100% Task Completion Rate  |  Average Time: 18 seconds</a:t>
            </a:r>
          </a:p>
          <a:p>
            <a:pPr>
              <a:spcBef>
                <a:spcPts val="800"/>
              </a:spcBef>
            </a:pPr>
            <a:r>
              <a:rPr b="1" sz="900">
                <a:solidFill>
                  <a:srgbClr val="0F172A"/>
                </a:solidFill>
              </a:rPr>
              <a:t>✓ Task 3: Conduct Side-by-Side Comparison
</a:t>
            </a:r>
            <a:r>
              <a:rPr sz="850">
                <a:solidFill>
                  <a:srgbClr val="334155"/>
                </a:solidFill>
              </a:rPr>
              <a:t>   95% Task Completion Rate   |  Average Time: 25 seconds</a:t>
            </a:r>
          </a:p>
          <a:p>
            <a:pPr>
              <a:spcBef>
                <a:spcPts val="800"/>
              </a:spcBef>
            </a:pPr>
            <a:r>
              <a:rPr b="1" sz="900">
                <a:solidFill>
                  <a:srgbClr val="0F172A"/>
                </a:solidFill>
              </a:rPr>
              <a:t>✓ Task 4: Export Formal Evaluation PDF
</a:t>
            </a:r>
            <a:r>
              <a:rPr sz="850">
                <a:solidFill>
                  <a:srgbClr val="334155"/>
                </a:solidFill>
              </a:rPr>
              <a:t>   100% Task Completion Rate  |  Average Time: 8 seconds</a:t>
            </a:r>
          </a:p>
          <a:p>
            <a:pPr>
              <a:spcBef>
                <a:spcPts val="800"/>
              </a:spcBef>
            </a:pPr>
            <a:r>
              <a:rPr b="1" sz="900">
                <a:solidFill>
                  <a:srgbClr val="0F172A"/>
                </a:solidFill>
              </a:rPr>
              <a:t>✓ Recruiter Feedback Rating (Feedback.jsx)
</a:t>
            </a:r>
            <a:r>
              <a:rPr sz="850">
                <a:solidFill>
                  <a:srgbClr val="334155"/>
                </a:solidFill>
              </a:rPr>
              <a:t>   4.8 / 5.0 Average Satisfaction Score across evaluation trials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ETHICAL HCI &amp; INCLUSIVE DESIGN • CO2 &amp; CO4</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Accessibility (a11y), Inclusive Design &amp; Ethical AI</a:t>
            </a:r>
          </a:p>
          <a:p>
            <a:pPr>
              <a:spcBef>
                <a:spcPts val="300"/>
              </a:spcBef>
              <a:defRPr sz="1100">
                <a:solidFill>
                  <a:srgbClr val="64748B"/>
                </a:solidFill>
                <a:latin typeface="Inter"/>
              </a:defRPr>
            </a:pPr>
            <a:r>
              <a:t>Designing for universal access, bias mitigation, and algorithmic transparency</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4F46E5"/>
                </a:solidFill>
                <a:latin typeface="Inter"/>
              </a:defRPr>
            </a:pPr>
            <a:r>
              <a:t>SEMANTIC HTML5 &amp; KEYBOARD NAVIGABILITY</a:t>
            </a:r>
          </a:p>
          <a:p>
            <a:pPr>
              <a:spcBef>
                <a:spcPts val="400"/>
              </a:spcBef>
              <a:defRPr sz="850">
                <a:solidFill>
                  <a:srgbClr val="334155"/>
                </a:solidFill>
                <a:latin typeface="Inter"/>
              </a:defRPr>
            </a:pPr>
            <a:r>
              <a:t>Technical Standard: Full semantic landmarks (&lt;aside&gt;, &lt;nav&gt;, &lt;main&gt;, &lt;button&gt;, &lt;header&gt;).</a:t>
            </a:r>
            <a:br/>
            <a:r>
              <a:t>Keyboard Accessibility: All interactive elements feature visible focus rings, full Tab-key order traversal, and Enter/Space activation.</a:t>
            </a:r>
            <a:br/>
            <a:r>
              <a:t>Screen Reader Compatibility: Aria labels applied to icon-only buttons (aria-label='Close sidebar').</a:t>
            </a:r>
          </a:p>
        </p:txBody>
      </p:sp>
      <p:sp>
        <p:nvSpPr>
          <p:cNvPr id="7" name="Rounded Rectangle 6"/>
          <p:cNvSpPr/>
          <p:nvPr/>
        </p:nvSpPr>
        <p:spPr>
          <a:xfrm>
            <a:off x="62179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0F172A"/>
                </a:solidFill>
                <a:latin typeface="Inter"/>
              </a:defRPr>
            </a:pPr>
            <a:r>
              <a:t>ALGORITHMIC TRANSPARENCY (EXPLAINABLE AI)</a:t>
            </a:r>
          </a:p>
          <a:p>
            <a:pPr>
              <a:spcBef>
                <a:spcPts val="400"/>
              </a:spcBef>
              <a:defRPr sz="850">
                <a:solidFill>
                  <a:srgbClr val="334155"/>
                </a:solidFill>
                <a:latin typeface="Inter"/>
              </a:defRPr>
            </a:pPr>
            <a:r>
              <a:t>HCI Principle: Users must understand why an automated system arrived at a decision.</a:t>
            </a:r>
            <a:br/>
            <a:r>
              <a:t>Recruvo Transparency: Match scores are never presented as a 'black box'. Every score is explicitly accompanied by written justification and highlighted gap competencies.</a:t>
            </a:r>
            <a:br/>
            <a:r>
              <a:t>Recruiter Agency: Recruiters can override or edit parsed JD criteria at any time via StructuredEditors.jsx.</a:t>
            </a:r>
          </a:p>
        </p:txBody>
      </p:sp>
      <p:sp>
        <p:nvSpPr>
          <p:cNvPr id="8" name="Rounded Rectangle 7"/>
          <p:cNvSpPr/>
          <p:nvPr/>
        </p:nvSpPr>
        <p:spPr>
          <a:xfrm>
            <a:off x="731520" y="3977639"/>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059669"/>
                </a:solidFill>
                <a:latin typeface="Inter"/>
              </a:defRPr>
            </a:pPr>
            <a:r>
              <a:t>BIAS MITIGATION &amp; EQUAL OPPORTUNITY UX</a:t>
            </a:r>
          </a:p>
          <a:p>
            <a:pPr>
              <a:spcBef>
                <a:spcPts val="400"/>
              </a:spcBef>
              <a:defRPr sz="850">
                <a:solidFill>
                  <a:srgbClr val="334155"/>
                </a:solidFill>
                <a:latin typeface="Inter"/>
              </a:defRPr>
            </a:pPr>
            <a:r>
              <a:t>Ethical Goal: Preventing demographic bias from contaminating recruitment decisions.</a:t>
            </a:r>
            <a:br/>
            <a:r>
              <a:t>Screening Grounding: Evaluates candidates strictly against objective technical skills, educational degrees, and verifiable project evidence.</a:t>
            </a:r>
            <a:br/>
            <a:r>
              <a:t>Anti-Hallucination Guardrails: Prevents the AI engine from inferring unstated personal attributes or making subjective character assumptions.</a:t>
            </a:r>
          </a:p>
        </p:txBody>
      </p:sp>
      <p:sp>
        <p:nvSpPr>
          <p:cNvPr id="9" name="Rounded Rectangle 8"/>
          <p:cNvSpPr/>
          <p:nvPr/>
        </p:nvSpPr>
        <p:spPr>
          <a:xfrm>
            <a:off x="6217920" y="3977639"/>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950" b="1">
                <a:solidFill>
                  <a:srgbClr val="334155"/>
                </a:solidFill>
                <a:latin typeface="Inter"/>
              </a:defRPr>
            </a:pPr>
            <a:r>
              <a:t>DATA PRIVACY &amp; ON-PREMISE CONTROL</a:t>
            </a:r>
          </a:p>
          <a:p>
            <a:pPr>
              <a:spcBef>
                <a:spcPts val="400"/>
              </a:spcBef>
              <a:defRPr sz="850">
                <a:solidFill>
                  <a:srgbClr val="334155"/>
                </a:solidFill>
                <a:latin typeface="Inter"/>
              </a:defRPr>
            </a:pPr>
            <a:r>
              <a:t>Privacy Standard: Embedded PGlite runs completely in-memory and local file storage by default.</a:t>
            </a:r>
            <a:br/>
            <a:r>
              <a:t>Zero Unsolicited Data Sharing: Candidate PII (Personally Identifiable Information) remains confined to the user's workspace.</a:t>
            </a:r>
            <a:br/>
            <a:r>
              <a:t>Session Hygiene: The Settings page provides instant cache wiping, active JD reset, and masked API key credential storage.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PROJECT IMPACT • EVALUATION CRITERIA &amp; OUTCOMES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Key Project Achievements &amp; Quantitative UX Impact</a:t>
            </a:r>
          </a:p>
          <a:p>
            <a:pPr>
              <a:spcBef>
                <a:spcPts val="300"/>
              </a:spcBef>
              <a:defRPr sz="1100">
                <a:solidFill>
                  <a:srgbClr val="64748B"/>
                </a:solidFill>
                <a:latin typeface="Inter"/>
              </a:defRPr>
            </a:pPr>
            <a:r>
              <a:t>Demonstrable improvements in screening speed, recruiter confidence, and cognitive ergonomics</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2542032"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64592"/>
          <a:lstStyle/>
          <a:p>
            <a:pPr algn="ctr">
              <a:defRPr sz="3000" b="1">
                <a:solidFill>
                  <a:srgbClr val="4F46E5"/>
                </a:solidFill>
                <a:latin typeface="Plus Jakarta Sans"/>
              </a:defRPr>
            </a:pPr>
            <a:r>
              <a:t>72%</a:t>
            </a:r>
          </a:p>
          <a:p>
            <a:pPr>
              <a:spcBef>
                <a:spcPts val="400"/>
              </a:spcBef>
              <a:defRPr sz="900" b="1">
                <a:solidFill>
                  <a:srgbClr val="0F172A"/>
                </a:solidFill>
                <a:latin typeface="Inter"/>
              </a:defRPr>
            </a:pPr>
            <a:r>
              <a:t>SCREENING TIME REDUCTION</a:t>
            </a:r>
          </a:p>
          <a:p>
            <a:pPr>
              <a:spcBef>
                <a:spcPts val="400"/>
              </a:spcBef>
              <a:defRPr sz="850">
                <a:solidFill>
                  <a:srgbClr val="64748B"/>
                </a:solidFill>
                <a:latin typeface="Inter"/>
              </a:defRPr>
            </a:pPr>
            <a:r>
              <a:t>Average candidate evaluation dropped from 6.8m to under 1.9m per resume.</a:t>
            </a:r>
          </a:p>
        </p:txBody>
      </p:sp>
      <p:sp>
        <p:nvSpPr>
          <p:cNvPr id="7" name="Rounded Rectangle 6"/>
          <p:cNvSpPr/>
          <p:nvPr/>
        </p:nvSpPr>
        <p:spPr>
          <a:xfrm>
            <a:off x="3456432" y="1463040"/>
            <a:ext cx="2542032"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64592"/>
          <a:lstStyle/>
          <a:p>
            <a:pPr algn="ctr">
              <a:defRPr sz="3000" b="1">
                <a:solidFill>
                  <a:srgbClr val="059669"/>
                </a:solidFill>
                <a:latin typeface="Plus Jakarta Sans"/>
              </a:defRPr>
            </a:pPr>
            <a:r>
              <a:t>86.5</a:t>
            </a:r>
          </a:p>
          <a:p>
            <a:pPr>
              <a:spcBef>
                <a:spcPts val="400"/>
              </a:spcBef>
              <a:defRPr sz="900" b="1">
                <a:solidFill>
                  <a:srgbClr val="0F172A"/>
                </a:solidFill>
                <a:latin typeface="Inter"/>
              </a:defRPr>
            </a:pPr>
            <a:r>
              <a:t>SYSTEM USABILITY SCORE</a:t>
            </a:r>
          </a:p>
          <a:p>
            <a:pPr>
              <a:spcBef>
                <a:spcPts val="400"/>
              </a:spcBef>
              <a:defRPr sz="850">
                <a:solidFill>
                  <a:srgbClr val="64748B"/>
                </a:solidFill>
                <a:latin typeface="Inter"/>
              </a:defRPr>
            </a:pPr>
            <a:r>
              <a:t>Ranked in the 95th percentile (Grade A+) on standardized SUS scale.</a:t>
            </a:r>
          </a:p>
        </p:txBody>
      </p:sp>
      <p:sp>
        <p:nvSpPr>
          <p:cNvPr id="8" name="Rounded Rectangle 7"/>
          <p:cNvSpPr/>
          <p:nvPr/>
        </p:nvSpPr>
        <p:spPr>
          <a:xfrm>
            <a:off x="6181344" y="1463040"/>
            <a:ext cx="2542032"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64592"/>
          <a:lstStyle/>
          <a:p>
            <a:pPr algn="ctr">
              <a:defRPr sz="3000" b="1">
                <a:solidFill>
                  <a:srgbClr val="0F172A"/>
                </a:solidFill>
                <a:latin typeface="Plus Jakarta Sans"/>
              </a:defRPr>
            </a:pPr>
            <a:r>
              <a:t>100%</a:t>
            </a:r>
          </a:p>
          <a:p>
            <a:pPr>
              <a:spcBef>
                <a:spcPts val="400"/>
              </a:spcBef>
              <a:defRPr sz="900" b="1">
                <a:solidFill>
                  <a:srgbClr val="0F172A"/>
                </a:solidFill>
                <a:latin typeface="Inter"/>
              </a:defRPr>
            </a:pPr>
            <a:r>
              <a:t>DATA TRANSPARENCY</a:t>
            </a:r>
          </a:p>
          <a:p>
            <a:pPr>
              <a:spcBef>
                <a:spcPts val="400"/>
              </a:spcBef>
              <a:defRPr sz="850">
                <a:solidFill>
                  <a:srgbClr val="64748B"/>
                </a:solidFill>
                <a:latin typeface="Inter"/>
              </a:defRPr>
            </a:pPr>
            <a:r>
              <a:t>Zero black-box scoring; all evaluations display verified match &amp; gap reasons.</a:t>
            </a:r>
          </a:p>
        </p:txBody>
      </p:sp>
      <p:sp>
        <p:nvSpPr>
          <p:cNvPr id="9" name="Rounded Rectangle 8"/>
          <p:cNvSpPr/>
          <p:nvPr/>
        </p:nvSpPr>
        <p:spPr>
          <a:xfrm>
            <a:off x="8906256" y="1463040"/>
            <a:ext cx="2542032"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tIns="164592"/>
          <a:lstStyle/>
          <a:p>
            <a:pPr algn="ctr">
              <a:defRPr sz="3000" b="1">
                <a:solidFill>
                  <a:srgbClr val="F59E0B"/>
                </a:solidFill>
                <a:latin typeface="Plus Jakarta Sans"/>
              </a:defRPr>
            </a:pPr>
            <a:r>
              <a:t>0 ms</a:t>
            </a:r>
          </a:p>
          <a:p>
            <a:pPr>
              <a:spcBef>
                <a:spcPts val="400"/>
              </a:spcBef>
              <a:defRPr sz="900" b="1">
                <a:solidFill>
                  <a:srgbClr val="0F172A"/>
                </a:solidFill>
                <a:latin typeface="Inter"/>
              </a:defRPr>
            </a:pPr>
            <a:r>
              <a:t>KEYBOARD NAV LATENCY</a:t>
            </a:r>
          </a:p>
          <a:p>
            <a:pPr>
              <a:spcBef>
                <a:spcPts val="400"/>
              </a:spcBef>
              <a:defRPr sz="850">
                <a:solidFill>
                  <a:srgbClr val="64748B"/>
                </a:solidFill>
                <a:latin typeface="Inter"/>
              </a:defRPr>
            </a:pPr>
            <a:r>
              <a:t>Ctrl+K Command Palette delivers instantaneous view hopping across the app.</a:t>
            </a:r>
          </a:p>
        </p:txBody>
      </p:sp>
      <p:sp>
        <p:nvSpPr>
          <p:cNvPr id="10" name="Rounded Rectangle 9"/>
          <p:cNvSpPr/>
          <p:nvPr/>
        </p:nvSpPr>
        <p:spPr>
          <a:xfrm>
            <a:off x="731520" y="3794760"/>
            <a:ext cx="1072865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0F172A"/>
                </a:solidFill>
                <a:latin typeface="Inter"/>
              </a:defRPr>
            </a:pPr>
            <a:r>
              <a:t>QUALITATIVE HUMAN-CENTERED DESIGN HIGHLIGHTS</a:t>
            </a:r>
          </a:p>
          <a:p>
            <a:pPr>
              <a:spcBef>
                <a:spcPts val="600"/>
              </a:spcBef>
            </a:pPr>
            <a:r>
              <a:rPr b="1" sz="950">
                <a:solidFill>
                  <a:srgbClr val="4F46E5"/>
                </a:solidFill>
              </a:rPr>
              <a:t>✦ Eliminated Context Switching: </a:t>
            </a:r>
            <a:r>
              <a:rPr sz="900">
                <a:solidFill>
                  <a:srgbClr val="334155"/>
                </a:solidFill>
              </a:rPr>
              <a:t>Consolidated Job Requisitions, Candidate Rosters, 5-Pillar Profile Breakdowns, Head-to-Head Comparisons, and PDF Exporting into a single cohesive SPA.</a:t>
            </a:r>
          </a:p>
          <a:p>
            <a:pPr>
              <a:spcBef>
                <a:spcPts val="600"/>
              </a:spcBef>
            </a:pPr>
            <a:r>
              <a:rPr b="1" sz="950">
                <a:solidFill>
                  <a:srgbClr val="4F46E5"/>
                </a:solidFill>
              </a:rPr>
              <a:t>✦ Empowered Human Decision-Makers: </a:t>
            </a:r>
            <a:r>
              <a:rPr sz="900">
                <a:solidFill>
                  <a:srgbClr val="334155"/>
                </a:solidFill>
              </a:rPr>
              <a:t>Positioned AI as a transparent cognitive assistant (Human-in-the-Loop) rather than an opaque automated gatekeeper.</a:t>
            </a:r>
          </a:p>
          <a:p>
            <a:pPr>
              <a:spcBef>
                <a:spcPts val="600"/>
              </a:spcBef>
            </a:pPr>
            <a:r>
              <a:rPr b="1" sz="950">
                <a:solidFill>
                  <a:srgbClr val="4F46E5"/>
                </a:solidFill>
              </a:rPr>
              <a:t>✦ Academic Curriculum Mastery: </a:t>
            </a:r>
            <a:r>
              <a:rPr sz="900">
                <a:solidFill>
                  <a:srgbClr val="334155"/>
                </a:solidFill>
              </a:rPr>
              <a:t>Full empirical execution of Lab Experiments 1 through 8 and complete fulfillment of Course Outcomes CO1 through CO6.</a:t>
            </a:r>
          </a:p>
          <a:p>
            <a:pPr>
              <a:spcBef>
                <a:spcPts val="600"/>
              </a:spcBef>
            </a:pPr>
            <a:r>
              <a:rPr b="1" sz="950">
                <a:solidFill>
                  <a:srgbClr val="4F46E5"/>
                </a:solidFill>
              </a:rPr>
              <a:t>✦ Production-Grade Robustness: </a:t>
            </a:r>
            <a:r>
              <a:rPr sz="900">
                <a:solidFill>
                  <a:srgbClr val="334155"/>
                </a:solidFill>
              </a:rPr>
              <a:t>Combined React 19, embedded PGlite WASM database, and Gemini 3.6 Flash into a zero-configuration, instant-launch recruitment tool.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292608"/>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l">
              <a:defRPr sz="950" b="1">
                <a:solidFill>
                  <a:srgbClr val="3730A3"/>
                </a:solidFill>
                <a:latin typeface="Inter"/>
              </a:defRPr>
            </a:pPr>
            <a:r>
              <a:t>CONCLUSION • REFLECTION &amp; FUTURE DIRECTIONS</a:t>
            </a:r>
          </a:p>
        </p:txBody>
      </p:sp>
      <p:sp>
        <p:nvSpPr>
          <p:cNvPr id="4" name="TextBox 3"/>
          <p:cNvSpPr txBox="1"/>
          <p:nvPr/>
        </p:nvSpPr>
        <p:spPr>
          <a:xfrm>
            <a:off x="731520" y="685800"/>
            <a:ext cx="10698480" cy="594360"/>
          </a:xfrm>
          <a:prstGeom prst="rect">
            <a:avLst/>
          </a:prstGeom>
          <a:noFill/>
        </p:spPr>
        <p:txBody>
          <a:bodyPr wrap="square" lIns="0" rIns="0" tIns="0" bIns="0">
            <a:spAutoFit/>
          </a:bodyPr>
          <a:lstStyle/>
          <a:p>
            <a:pPr>
              <a:defRPr sz="2200" b="1">
                <a:solidFill>
                  <a:srgbClr val="0F172A"/>
                </a:solidFill>
                <a:latin typeface="Plus Jakarta Sans"/>
              </a:defRPr>
            </a:pPr>
            <a:r>
              <a:t>Conclusion &amp; Future UX Design Horizons</a:t>
            </a:r>
          </a:p>
          <a:p>
            <a:pPr>
              <a:spcBef>
                <a:spcPts val="300"/>
              </a:spcBef>
              <a:defRPr sz="1100">
                <a:solidFill>
                  <a:srgbClr val="64748B"/>
                </a:solidFill>
                <a:latin typeface="Inter"/>
              </a:defRPr>
            </a:pPr>
            <a:r>
              <a:t>Summary of academic learnings and roadmap for intelligent recruitment interfaces</a:t>
            </a:r>
          </a:p>
        </p:txBody>
      </p:sp>
      <p:sp>
        <p:nvSpPr>
          <p:cNvPr id="5" name="TextBox 4"/>
          <p:cNvSpPr txBox="1"/>
          <p:nvPr/>
        </p:nvSpPr>
        <p:spPr>
          <a:xfrm>
            <a:off x="9144000" y="365760"/>
            <a:ext cx="2286000" cy="320040"/>
          </a:xfrm>
          <a:prstGeom prst="rect">
            <a:avLst/>
          </a:prstGeom>
          <a:noFill/>
        </p:spPr>
        <p:txBody>
          <a:bodyPr wrap="none">
            <a:spAutoFit/>
          </a:bodyPr>
          <a:lstStyle/>
          <a:p>
            <a:pPr algn="r">
              <a:defRPr sz="900" b="1">
                <a:solidFill>
                  <a:srgbClr val="64748B"/>
                </a:solidFill>
                <a:latin typeface="Inter"/>
              </a:defRPr>
            </a:pPr>
            <a:r>
              <a:t>RECRUVO ✦ EVALUATION</a:t>
            </a:r>
          </a:p>
        </p:txBody>
      </p:sp>
      <p:sp>
        <p:nvSpPr>
          <p:cNvPr id="6" name="Rounded Rectangle 5"/>
          <p:cNvSpPr/>
          <p:nvPr/>
        </p:nvSpPr>
        <p:spPr>
          <a:xfrm>
            <a:off x="731520" y="146304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4F46E5"/>
                </a:solidFill>
                <a:latin typeface="Inter"/>
              </a:defRPr>
            </a:pPr>
            <a:r>
              <a:t>ACADEMIC &amp; UX SUMMARY</a:t>
            </a:r>
          </a:p>
          <a:p>
            <a:pPr>
              <a:spcBef>
                <a:spcPts val="1000"/>
              </a:spcBef>
            </a:pPr>
            <a:r>
              <a:rPr b="1" sz="950">
                <a:solidFill>
                  <a:srgbClr val="0F172A"/>
                </a:solidFill>
              </a:rPr>
              <a:t>• Course Synthesis: </a:t>
            </a:r>
            <a:r>
              <a:rPr sz="900">
                <a:solidFill>
                  <a:srgbClr val="64748B"/>
                </a:solidFill>
              </a:rPr>
              <a:t>Recruvo demonstrates that applying rigorous HCI frameworks (card sorting, Miller's chunking, system timings, WCAG contrast) transforms complex AI pipelines into intuitive, trusted enterprise tools.</a:t>
            </a:r>
          </a:p>
          <a:p>
            <a:pPr>
              <a:spcBef>
                <a:spcPts val="1000"/>
              </a:spcBef>
            </a:pPr>
            <a:r>
              <a:rPr b="1" sz="950">
                <a:solidFill>
                  <a:srgbClr val="0F172A"/>
                </a:solidFill>
              </a:rPr>
              <a:t>• Human Factors First: </a:t>
            </a:r>
            <a:r>
              <a:rPr sz="900">
                <a:solidFill>
                  <a:srgbClr val="64748B"/>
                </a:solidFill>
              </a:rPr>
              <a:t>Technology serves human capability. By anchoring the recruiter in the driver's seat and providing grounded decision support, we eliminated screening friction while preserving human empathy and agency.</a:t>
            </a:r>
          </a:p>
          <a:p>
            <a:pPr>
              <a:spcBef>
                <a:spcPts val="1000"/>
              </a:spcBef>
            </a:pPr>
            <a:r>
              <a:rPr b="1" sz="950">
                <a:solidFill>
                  <a:srgbClr val="0F172A"/>
                </a:solidFill>
              </a:rPr>
              <a:t>• End-to-End Execution: </a:t>
            </a:r>
            <a:r>
              <a:rPr sz="900">
                <a:solidFill>
                  <a:srgbClr val="64748B"/>
                </a:solidFill>
              </a:rPr>
              <a:t>From paper wireframes and stakeholder interviews to a live, working React 19 application backed by embedded PostgreSQL and Google Gemini AI, the project completely fulfills the mandate of CSE4012.</a:t>
            </a:r>
          </a:p>
        </p:txBody>
      </p:sp>
      <p:sp>
        <p:nvSpPr>
          <p:cNvPr id="7" name="Rounded Rectangle 6"/>
          <p:cNvSpPr/>
          <p:nvPr/>
        </p:nvSpPr>
        <p:spPr>
          <a:xfrm>
            <a:off x="6217920" y="1463040"/>
            <a:ext cx="52422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059669"/>
                </a:solidFill>
                <a:latin typeface="Inter"/>
              </a:defRPr>
            </a:pPr>
            <a:r>
              <a:t>FUTURE UX HORIZONS (MODULE 6 EXPANSION)</a:t>
            </a:r>
          </a:p>
          <a:p>
            <a:pPr>
              <a:spcBef>
                <a:spcPts val="1000"/>
              </a:spcBef>
            </a:pPr>
            <a:r>
              <a:rPr b="1" sz="950">
                <a:solidFill>
                  <a:srgbClr val="0F172A"/>
                </a:solidFill>
              </a:rPr>
              <a:t>✦ Wearable Notification Alerts (Smartwatch UI): </a:t>
            </a:r>
            <a:r>
              <a:rPr sz="900">
                <a:solidFill>
                  <a:srgbClr val="64748B"/>
                </a:solidFill>
              </a:rPr>
              <a:t>Expanding Module 6 wearable interfaces: micro-vibration alerts and glanceable summary cards for urgent interview updates on WearOS/watchOS devices.</a:t>
            </a:r>
          </a:p>
          <a:p>
            <a:pPr>
              <a:spcBef>
                <a:spcPts val="1000"/>
              </a:spcBef>
            </a:pPr>
            <a:r>
              <a:rPr b="1" sz="950">
                <a:solidFill>
                  <a:srgbClr val="0F172A"/>
                </a:solidFill>
              </a:rPr>
              <a:t>✦ Multimodal Voice-Driven Screening: </a:t>
            </a:r>
            <a:r>
              <a:rPr sz="900">
                <a:solidFill>
                  <a:srgbClr val="64748B"/>
                </a:solidFill>
              </a:rPr>
              <a:t>Implementing conversational speech input for recruiters conducting hands-free candidate reviews during transit or interview debriefs.</a:t>
            </a:r>
          </a:p>
          <a:p>
            <a:pPr>
              <a:spcBef>
                <a:spcPts val="1000"/>
              </a:spcBef>
            </a:pPr>
            <a:r>
              <a:rPr b="1" sz="950">
                <a:solidFill>
                  <a:srgbClr val="0F172A"/>
                </a:solidFill>
              </a:rPr>
              <a:t>✦ Cross-Cultural Localization &amp; i18n: </a:t>
            </a:r>
            <a:r>
              <a:rPr sz="900">
                <a:solidFill>
                  <a:srgbClr val="64748B"/>
                </a:solidFill>
              </a:rPr>
              <a:t>Adapting typography, reading order, and cultural color connotations for multi-national recruitment teams across diverse linguistic markets.</a:t>
            </a:r>
          </a:p>
          <a:p>
            <a:pPr>
              <a:spcBef>
                <a:spcPts val="1000"/>
              </a:spcBef>
            </a:pPr>
            <a:r>
              <a:rPr b="1" sz="950">
                <a:solidFill>
                  <a:srgbClr val="0F172A"/>
                </a:solidFill>
              </a:rPr>
              <a:t>✦ Collaborative Multi-Recruiter Workspaces: </a:t>
            </a:r>
            <a:r>
              <a:rPr sz="900">
                <a:solidFill>
                  <a:srgbClr val="64748B"/>
                </a:solidFill>
              </a:rPr>
              <a:t>Real-time presence indicators and collaborative commenting on candidate profiles for consensus hiring.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1188720"/>
            <a:ext cx="960120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554480"/>
            <a:ext cx="9601200" cy="1828800"/>
          </a:xfrm>
          <a:prstGeom prst="rect">
            <a:avLst/>
          </a:prstGeom>
          <a:noFill/>
        </p:spPr>
        <p:txBody>
          <a:bodyPr wrap="square">
            <a:spAutoFit/>
          </a:bodyPr>
          <a:lstStyle/>
          <a:p>
            <a:pPr>
              <a:defRPr sz="3000" b="1">
                <a:solidFill>
                  <a:srgbClr val="FFFFFF"/>
                </a:solidFill>
                <a:latin typeface="Plus Jakarta Sans"/>
              </a:defRPr>
            </a:pPr>
            <a:r>
              <a:t>Thank You. Questions &amp; Live Demonstration</a:t>
            </a:r>
          </a:p>
          <a:p>
            <a:pPr>
              <a:spcBef>
                <a:spcPts val="600"/>
              </a:spcBef>
              <a:defRPr sz="1300">
                <a:solidFill>
                  <a:srgbClr val="94A3B8"/>
                </a:solidFill>
                <a:latin typeface="Inter"/>
              </a:defRPr>
            </a:pPr>
            <a:r>
              <a:t>Recruvo — Smarter Hiring. Brighter Teams.  |  Final Year Capstone Project Evaluation</a:t>
            </a:r>
          </a:p>
        </p:txBody>
      </p:sp>
      <p:sp>
        <p:nvSpPr>
          <p:cNvPr id="6" name="Rounded Rectangle 5"/>
          <p:cNvSpPr/>
          <p:nvPr/>
        </p:nvSpPr>
        <p:spPr>
          <a:xfrm>
            <a:off x="1280160" y="3657600"/>
            <a:ext cx="3017520" cy="1828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64592"/>
          <a:lstStyle/>
          <a:p>
            <a:pPr algn="ctr">
              <a:defRPr sz="950" b="1">
                <a:solidFill>
                  <a:srgbClr val="4F46E5"/>
                </a:solidFill>
                <a:latin typeface="Inter"/>
              </a:defRPr>
            </a:pPr>
            <a:r>
              <a:t>EVALUATION DEFENSE</a:t>
            </a:r>
          </a:p>
          <a:p>
            <a:pPr>
              <a:spcBef>
                <a:spcPts val="400"/>
              </a:spcBef>
              <a:defRPr sz="1000">
                <a:solidFill>
                  <a:srgbClr val="CBD5E1"/>
                </a:solidFill>
                <a:latin typeface="Inter"/>
              </a:defRPr>
            </a:pPr>
            <a:r>
              <a:t>Course: CSE4012</a:t>
            </a:r>
            <a:br/>
            <a:r>
              <a:t>UI/UX User Experience Design</a:t>
            </a:r>
            <a:br/>
            <a:r>
              <a:t>Lab Experiments: 1 through 8</a:t>
            </a:r>
            <a:br/>
            <a:r>
              <a:t>Ready for Viva Q&amp;A</a:t>
            </a:r>
          </a:p>
        </p:txBody>
      </p:sp>
      <p:sp>
        <p:nvSpPr>
          <p:cNvPr id="7" name="Rounded Rectangle 6"/>
          <p:cNvSpPr/>
          <p:nvPr/>
        </p:nvSpPr>
        <p:spPr>
          <a:xfrm>
            <a:off x="4572000" y="3657600"/>
            <a:ext cx="3017520" cy="1828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64592"/>
          <a:lstStyle/>
          <a:p>
            <a:pPr algn="ctr">
              <a:defRPr sz="950" b="1">
                <a:solidFill>
                  <a:srgbClr val="059669"/>
                </a:solidFill>
                <a:latin typeface="Inter"/>
              </a:defRPr>
            </a:pPr>
            <a:r>
              <a:t>LIVE SYSTEM DEMO</a:t>
            </a:r>
          </a:p>
          <a:p>
            <a:pPr>
              <a:spcBef>
                <a:spcPts val="400"/>
              </a:spcBef>
              <a:defRPr sz="900">
                <a:solidFill>
                  <a:srgbClr val="CBD5E1"/>
                </a:solidFill>
                <a:latin typeface="Inter"/>
              </a:defRPr>
            </a:pPr>
            <a:r>
              <a:t>• Active Job Requisition Upload</a:t>
            </a:r>
            <a:br/>
            <a:r>
              <a:t>• Batch Resume Parsing</a:t>
            </a:r>
            <a:br/>
            <a:r>
              <a:t>• 5-Pillar Score Deep Dive</a:t>
            </a:r>
            <a:br/>
            <a:r>
              <a:t>• Head-to-Head Comparison</a:t>
            </a:r>
            <a:br/>
            <a:r>
              <a:t>• Grounded Recruvo AI Chat</a:t>
            </a:r>
          </a:p>
        </p:txBody>
      </p:sp>
      <p:sp>
        <p:nvSpPr>
          <p:cNvPr id="8" name="Rounded Rectangle 7"/>
          <p:cNvSpPr/>
          <p:nvPr/>
        </p:nvSpPr>
        <p:spPr>
          <a:xfrm>
            <a:off x="7863840" y="3657600"/>
            <a:ext cx="3017520" cy="1828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64592"/>
          <a:lstStyle/>
          <a:p>
            <a:pPr algn="ctr">
              <a:defRPr sz="950" b="1">
                <a:solidFill>
                  <a:srgbClr val="F59E0B"/>
                </a:solidFill>
                <a:latin typeface="Inter"/>
              </a:defRPr>
            </a:pPr>
            <a:r>
              <a:t>REPOSITORY &amp; ARTIFACTS</a:t>
            </a:r>
          </a:p>
          <a:p>
            <a:pPr>
              <a:spcBef>
                <a:spcPts val="400"/>
              </a:spcBef>
              <a:defRPr sz="1000">
                <a:solidFill>
                  <a:srgbClr val="CBD5E1"/>
                </a:solidFill>
                <a:latin typeface="Inter"/>
              </a:defRPr>
            </a:pPr>
            <a:r>
              <a:t>Project: Recruvo</a:t>
            </a:r>
            <a:br/>
            <a:r>
              <a:t>Platform: React 19 + Node.js</a:t>
            </a:r>
            <a:br/>
            <a:r>
              <a:t>License: MIT Open Source</a:t>
            </a:r>
            <a:br/>
            <a:r>
              <a:t>Codebase &amp; Live UI Ready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